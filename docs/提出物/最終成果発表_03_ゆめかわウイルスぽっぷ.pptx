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884" autoAdjust="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F4371A-D5F7-44C1-80F8-FA25F33E882E}" type="datetimeFigureOut">
              <a:rPr kumimoji="1" lang="ja-JP" altLang="en-US" smtClean="0"/>
              <a:t>2026/10/26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B7477-CFFE-48FE-8362-1D7FF90CA97D}" type="slidenum">
              <a:rPr kumimoji="1" lang="ja-JP" altLang="en-US" smtClean="0"/>
              <a:t>‹#›</a:t>
            </a:fld>
            <a:endParaRPr kumimoji="1" lang="ja-JP" altLang="en-US"/>
          </a:p>
        </p:txBody>
      </p:sp>
    </p:spTree>
    <p:extLst>
      <p:ext uri="{BB962C8B-B14F-4D97-AF65-F5344CB8AC3E}">
        <p14:creationId xmlns:p14="http://schemas.microsoft.com/office/powerpoint/2010/main" val="30627284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スライド</a:t>
            </a:r>
            <a:r>
              <a:rPr kumimoji="1" lang="en-US" altLang="ja-JP" dirty="0"/>
              <a:t>1</a:t>
            </a:r>
            <a:r>
              <a:rPr kumimoji="1" lang="ja-JP" altLang="en-US" dirty="0"/>
              <a:t>・</a:t>
            </a:r>
            <a:r>
              <a:rPr kumimoji="1" lang="en-US" altLang="ja-JP" dirty="0"/>
              <a:t>30</a:t>
            </a:r>
            <a:r>
              <a:rPr kumimoji="1" lang="ja-JP" altLang="en-US" dirty="0"/>
              <a:t>秒</a:t>
            </a:r>
            <a:r>
              <a:rPr kumimoji="1" lang="en-US" altLang="ja-JP" dirty="0"/>
              <a:t>】</a:t>
            </a:r>
            <a:r>
              <a:rPr kumimoji="1" lang="ja-JP" altLang="en-US" dirty="0"/>
              <a:t>話す人：松井さん（班長）</a:t>
            </a:r>
          </a:p>
          <a:p>
            <a:r>
              <a:rPr kumimoji="1" lang="ja-JP" altLang="en-US" dirty="0"/>
              <a:t>・チーム名と</a:t>
            </a:r>
            <a:r>
              <a:rPr kumimoji="1" lang="en-US" altLang="ja-JP" dirty="0"/>
              <a:t>3</a:t>
            </a:r>
            <a:r>
              <a:rPr kumimoji="1" lang="ja-JP" altLang="en-US" dirty="0"/>
              <a:t>人の担当を紹介する</a:t>
            </a:r>
          </a:p>
          <a:p>
            <a:r>
              <a:rPr kumimoji="1" lang="ja-JP" altLang="en-US" dirty="0"/>
              <a:t>・「今日はアプリの説明ではなく、</a:t>
            </a:r>
            <a:r>
              <a:rPr kumimoji="1" lang="en-US" altLang="ja-JP" dirty="0"/>
              <a:t>AI</a:t>
            </a:r>
            <a:r>
              <a:rPr kumimoji="1" lang="ja-JP" altLang="en-US" dirty="0"/>
              <a:t>をどう使って作ったかを話します」と最初に言う</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1</a:t>
            </a:fld>
            <a:endParaRPr kumimoji="1" lang="ja-JP" altLang="en-US"/>
          </a:p>
        </p:txBody>
      </p:sp>
    </p:spTree>
    <p:extLst>
      <p:ext uri="{BB962C8B-B14F-4D97-AF65-F5344CB8AC3E}">
        <p14:creationId xmlns:p14="http://schemas.microsoft.com/office/powerpoint/2010/main" val="1396251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2</a:t>
            </a:r>
            <a:r>
              <a:rPr kumimoji="1" lang="ja-JP" altLang="en-US"/>
              <a:t>・</a:t>
            </a:r>
            <a:r>
              <a:rPr kumimoji="1" lang="en-US" altLang="ja-JP"/>
              <a:t>1</a:t>
            </a:r>
            <a:r>
              <a:rPr kumimoji="1" lang="ja-JP" altLang="en-US"/>
              <a:t>分</a:t>
            </a:r>
            <a:r>
              <a:rPr kumimoji="1" lang="en-US" altLang="ja-JP"/>
              <a:t>】</a:t>
            </a:r>
            <a:r>
              <a:rPr kumimoji="1" lang="ja-JP" altLang="en-US"/>
              <a:t>話す人：岡野さん</a:t>
            </a:r>
          </a:p>
          <a:p>
            <a:r>
              <a:rPr kumimoji="1" lang="ja-JP" altLang="en-US"/>
              <a:t>・ペルソナ（松田みゆさん）を紹介する：都立高校</a:t>
            </a:r>
            <a:r>
              <a:rPr kumimoji="1" lang="en-US" altLang="ja-JP"/>
              <a:t>2</a:t>
            </a:r>
            <a:r>
              <a:rPr kumimoji="1" lang="ja-JP" altLang="en-US"/>
              <a:t>年、かわいいものとメイクが好き、家族が</a:t>
            </a:r>
            <a:r>
              <a:rPr kumimoji="1" lang="en-US" altLang="ja-JP"/>
              <a:t>IT</a:t>
            </a:r>
            <a:r>
              <a:rPr kumimoji="1" lang="ja-JP" altLang="en-US"/>
              <a:t>系で自分も</a:t>
            </a:r>
            <a:r>
              <a:rPr kumimoji="1" lang="en-US" altLang="ja-JP"/>
              <a:t>IT</a:t>
            </a:r>
            <a:r>
              <a:rPr kumimoji="1" lang="ja-JP" altLang="en-US"/>
              <a:t>に興味がある</a:t>
            </a:r>
          </a:p>
          <a:p>
            <a:r>
              <a:rPr kumimoji="1" lang="ja-JP" altLang="en-US"/>
              <a:t>・悩みは「楽しいイベントに行きたいけれど、お金がない」→ 課題は「お金を使わずに、学園祭で楽しく遊びたい」</a:t>
            </a:r>
          </a:p>
          <a:p>
            <a:r>
              <a:rPr kumimoji="1" lang="ja-JP" altLang="en-US"/>
              <a:t>・右の①〜④は、みゆさんの特徴から決めたこと：①兄や友だちと来る → 本日のトップ3、②ITに興味 → 本物のウイルスの名前と豆知識（ぷにぷにランサムちゃん など）、③かわいいものが好き → ゆめかわな見た目とキャラ、④お金がない → 無料・知っている曲を1曲1分で</a:t>
            </a:r>
          </a:p>
          <a:p>
            <a:r>
              <a:rPr kumimoji="1" lang="ja-JP" altLang="en-US"/>
              <a:t>・「みゆさんを細かく決めたので、3人で『みゆさんなら喜ぶか』で迷わず決められ、アプリがぼやけずにくっきりしました。AIに頼むときも、ターゲットを伝えたら案がしぼれました」</a:t>
            </a:r>
          </a:p>
          <a:p>
            <a:r>
              <a:rPr kumimoji="1" lang="ja-JP" altLang="en-US"/>
              <a:t>・「そこで作ったのが、ゆめかわ★ウイルス・ぽっぷです」と言って、次のデモへつなぐ</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2</a:t>
            </a:fld>
            <a:endParaRPr kumimoji="1" lang="ja-JP" altLang="en-US"/>
          </a:p>
        </p:txBody>
      </p:sp>
    </p:spTree>
    <p:extLst>
      <p:ext uri="{BB962C8B-B14F-4D97-AF65-F5344CB8AC3E}">
        <p14:creationId xmlns:p14="http://schemas.microsoft.com/office/powerpoint/2010/main" val="1443726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3</a:t>
            </a:r>
            <a:r>
              <a:rPr kumimoji="1" lang="ja-JP" altLang="en-US"/>
              <a:t>・</a:t>
            </a:r>
            <a:r>
              <a:rPr kumimoji="1" lang="en-US" altLang="ja-JP"/>
              <a:t>1</a:t>
            </a:r>
            <a:r>
              <a:rPr kumimoji="1" lang="ja-JP" altLang="en-US"/>
              <a:t>分</a:t>
            </a:r>
            <a:r>
              <a:rPr kumimoji="1" lang="en-US" altLang="ja-JP"/>
              <a:t>30</a:t>
            </a:r>
            <a:r>
              <a:rPr kumimoji="1" lang="ja-JP" altLang="en-US"/>
              <a:t>秒</a:t>
            </a:r>
            <a:r>
              <a:rPr kumimoji="1" lang="en-US" altLang="ja-JP"/>
              <a:t>】</a:t>
            </a:r>
            <a:r>
              <a:rPr kumimoji="1" lang="ja-JP" altLang="en-US"/>
              <a:t>話す人：松井さん（操作も）</a:t>
            </a:r>
          </a:p>
          <a:p>
            <a:r>
              <a:rPr kumimoji="1" lang="ja-JP" altLang="en-US"/>
              <a:t>・中身のくわしい説明はしない（先生：デモはカンタンに）</a:t>
            </a:r>
          </a:p>
          <a:p>
            <a:r>
              <a:rPr kumimoji="1" lang="ja-JP" altLang="en-US"/>
              <a:t>・見せるのは</a:t>
            </a:r>
            <a:r>
              <a:rPr kumimoji="1" lang="en-US" altLang="ja-JP"/>
              <a:t>3</a:t>
            </a:r>
            <a:r>
              <a:rPr kumimoji="1" lang="ja-JP" altLang="en-US"/>
              <a:t>つだけ：曲を選ぶ → 叩く → リザルト</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3</a:t>
            </a:fld>
            <a:endParaRPr kumimoji="1" lang="ja-JP" altLang="en-US"/>
          </a:p>
        </p:txBody>
      </p:sp>
    </p:spTree>
    <p:extLst>
      <p:ext uri="{BB962C8B-B14F-4D97-AF65-F5344CB8AC3E}">
        <p14:creationId xmlns:p14="http://schemas.microsoft.com/office/powerpoint/2010/main" val="1361242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【スライド4・3分】話す人：①岡野さん、②松井さん、③中山さん（1人1分くらい）。流れは「①選ぶ → ②頼む（作らせる） → ③確かめる」</a:t>
            </a:r>
          </a:p>
          <a:p>
            <a:r>
              <a:rPr kumimoji="1" lang="en-US" altLang="ja-JP" dirty="0"/>
              <a:t>・①（岡野さん）：初級と上級の差が大きすぎた。AIは1曲を2つにアレンジする案を出したが、班で話し合って、曲そのものの難しさで分けた。来場者に分かりやすいから。その結果が★1〜★6の6曲（デモで見せたとおり）</a:t>
            </a:r>
          </a:p>
          <a:p>
            <a:r>
              <a:rPr kumimoji="1" lang="en-US" altLang="ja-JP" dirty="0"/>
              <a:t>・②（松井さん）：AIはファイルは読めても、班のルールは知らない。10か条の例＝仕様書どおり（数値・関数名を変えない）／頼まれたファイルだけ直す／同じ名前を使わない／コメントは「// ★」で中学生にも分かる言葉／迷ったら勝手に決めず報告。プロンプトは毎回2行。3人・3つのAIでも同じルールで作れ、担当外のファイルを勝手に書きかえられたことはなかった</a:t>
            </a:r>
          </a:p>
          <a:p>
            <a:r>
              <a:rPr kumimoji="1" lang="en-US" altLang="ja-JP" dirty="0"/>
              <a:t>・③（中山さん）：天国と地獄の最後を歌って伝えたら、作り話の曲ができた。原曲を調べさせ、ドレミで打った流れを目印に楽譜を探させた。最後は音だけ聞けるページで耳で確かめ、「7小節目のレはいらない」と伝えて1回で直った</a:t>
            </a:r>
          </a:p>
          <a:p>
            <a:r>
              <a:rPr kumimoji="1" lang="en-US" altLang="ja-JP" dirty="0"/>
              <a:t>・最後に一言：「人が選んで、AIに作らせて、人が確かめる」</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4</a:t>
            </a:fld>
            <a:endParaRPr kumimoji="1" lang="ja-JP" altLang="en-US"/>
          </a:p>
        </p:txBody>
      </p:sp>
    </p:spTree>
    <p:extLst>
      <p:ext uri="{BB962C8B-B14F-4D97-AF65-F5344CB8AC3E}">
        <p14:creationId xmlns:p14="http://schemas.microsoft.com/office/powerpoint/2010/main" val="2345897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【スライド5・1分30秒】話す人：①〜③を1人1つずつ（だれがどれを話すかは、資料ができてから決める）</a:t>
            </a:r>
          </a:p>
          <a:p>
            <a:r>
              <a:rPr kumimoji="1" lang="ja-JP" altLang="en-US"/>
              <a:t>・①（3人で作った）：最初は「1人がAIと作った方が速くて良いものができる」と思っていたが、授業の目的に合わせて3人で分担した。関数の名前などのつなぎ目を仕様書で決めたり、マージの順番を考えたりと手間は増えた。でも、見た目・プレイ画面・認定証をそれぞれ得意な人が作り、お互いの成果に刺激を受けて、1人で作るよりも製品らしい良いアプリになった</a:t>
            </a:r>
          </a:p>
          <a:p>
            <a:r>
              <a:rPr kumimoji="1" lang="ja-JP" altLang="en-US"/>
              <a:t>・②（人の感覚は人が確かめる）：曲が気持ちいいか、難易度がちょうどいいかは、AIには判断できなかった。遊んでみると、難易度★5のエンターテイナーが★6以上の難しさになっていて、数字だけでは分からず、遊んで初めて分かった。ドレミなどの文字で曲を打ち込んでも、AIは原曲に近い曲を作れなかったが、「7小節目のレはいらない」のように言葉にすると、AIが直せた。AIが作ったり直したりしたものは、必ずアプリの動きを確かめてからコミットした</a:t>
            </a:r>
          </a:p>
          <a:p>
            <a:r>
              <a:rPr kumimoji="1" lang="ja-JP" altLang="en-US"/>
              <a:t>・③（コードを読む力）：技術が分からないままでは、AIに直してもらうこともできない。資料や「// ★」のコメントで全体は分かり、audio.js を読んで「3曲とも伴奏が同じ」と気づいて、不具合として直すきっかけになったこともあった。でも、多くは遊んで・聞いて・比べて確かめていて、原因をコードで見つけて直すところまではできなかった。次はJavaScriptをもっと読めるようになりたい</a:t>
            </a:r>
          </a:p>
          <a:p>
            <a:r>
              <a:rPr kumimoji="1" lang="ja-JP" altLang="en-US"/>
              <a:t>・最後に「ありがとうございました」→ 質疑応答へ</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5</a:t>
            </a:fld>
            <a:endParaRPr kumimoji="1" lang="ja-JP" altLang="en-US"/>
          </a:p>
        </p:txBody>
      </p:sp>
    </p:spTree>
    <p:extLst>
      <p:ext uri="{BB962C8B-B14F-4D97-AF65-F5344CB8AC3E}">
        <p14:creationId xmlns:p14="http://schemas.microsoft.com/office/powerpoint/2010/main" val="3054541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A1F7-EC4D-44CA-90B0-92D9D54A10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782703-BF59-45B3-AF49-BF9326E35C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A63BB9C-9482-403B-9582-D4785CE29ECE}"/>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ACD14E58-BEE7-4E8E-A5A2-5EC42AE806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FCFBD8D-39AC-410A-9819-F6FD497B1880}"/>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3041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B56929-E82D-41D2-8AFE-A91EC02AEC4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C7E95-AC48-4E08-BEBB-9648B247186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9ABC12-777B-4CE8-87BF-038A07EDB864}"/>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7108C42A-E6C0-408E-8D13-F62B241FB41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540812-54A3-4C57-8445-CC5028AEFEFB}"/>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6351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E2574-EF9A-4B53-87C1-F012DF917864}"/>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43F6170-96C9-4039-BFF7-66D3AA4440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2981AF76-41F2-427C-9B1B-3C3655B6730E}"/>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271DC532-27B8-4D35-A608-F03C1EFEE7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9BC7013-A9F2-44D5-8D4D-39024103052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260273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9C2CE-335E-4E0A-BD3B-5B5A0BDE035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27B784D-A4BC-4102-8CA1-D57AB1ECDE0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7016748-4027-4931-8BDC-BDAF099B80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22791BC-F5D7-49B1-80AD-FFA44413DC51}"/>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6" name="フッター プレースホルダー 5">
            <a:extLst>
              <a:ext uri="{FF2B5EF4-FFF2-40B4-BE49-F238E27FC236}">
                <a16:creationId xmlns:a16="http://schemas.microsoft.com/office/drawing/2014/main" id="{0CE7A67C-8F12-4C65-8E23-F3CAD969A94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F4022E-C5E3-4B85-9D9D-0B6530BDE0F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277745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48FCCA-2B8E-40A2-A091-9C5CC20F286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BE9E4E4-6024-44B9-A7EE-D1BAFE97A9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D8A108C-E11F-4D86-BE53-1D7838603A9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67E72EF-7496-4354-A24E-7F10B2BE56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4E09149-64CF-41C6-9198-4005D2BD92E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5343D89-7DE6-4E41-B608-611AD1069181}"/>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8" name="フッター プレースホルダー 7">
            <a:extLst>
              <a:ext uri="{FF2B5EF4-FFF2-40B4-BE49-F238E27FC236}">
                <a16:creationId xmlns:a16="http://schemas.microsoft.com/office/drawing/2014/main" id="{3FAF40E9-DDC5-40AA-9EAB-6C95553070B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C0356E0-8059-4B9A-B582-4B3F0CB6198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12930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F27657-7F53-4CC5-A692-6EF1CE87F63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58FFD35-CBD8-4312-9ED9-986FEEF12FFA}"/>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4" name="フッター プレースホルダー 3">
            <a:extLst>
              <a:ext uri="{FF2B5EF4-FFF2-40B4-BE49-F238E27FC236}">
                <a16:creationId xmlns:a16="http://schemas.microsoft.com/office/drawing/2014/main" id="{1680F7CC-347C-4E11-89D3-4F2D2724C41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E28E02D-F57C-43EB-95F7-DEB718121C6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05154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6982396-B515-476B-AC84-0E67DCEEB4DF}"/>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3" name="フッター プレースホルダー 2">
            <a:extLst>
              <a:ext uri="{FF2B5EF4-FFF2-40B4-BE49-F238E27FC236}">
                <a16:creationId xmlns:a16="http://schemas.microsoft.com/office/drawing/2014/main" id="{D89FD897-300A-401E-89A7-CBA492D48EE3}"/>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709FE4E-C831-4716-908A-E17912720ED9}"/>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160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DCE8D2-0AA9-406B-B249-951DFECEF0E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F4BF5B-DFB7-4054-9A1F-EE278077CF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A91C1A1-DCAA-4B1C-8988-CFA673A5D9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CCC5D80-A89D-49EB-8FD7-E9DA62EE31F9}"/>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6" name="フッター プレースホルダー 5">
            <a:extLst>
              <a:ext uri="{FF2B5EF4-FFF2-40B4-BE49-F238E27FC236}">
                <a16:creationId xmlns:a16="http://schemas.microsoft.com/office/drawing/2014/main" id="{5A795659-FE92-457D-8815-32FB88FA8B6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9941DCE-7A63-4F5B-BCF1-B7BCD5EDA2D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766620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8952-FBE5-433E-892C-FCFE78DD8B5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58487372-2F1D-49E2-881E-E63BAC5F0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AE9982C3-7612-478C-9795-8434917FA2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B75229-49C3-49DA-A6FA-2D8C419682F1}"/>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6" name="フッター プレースホルダー 5">
            <a:extLst>
              <a:ext uri="{FF2B5EF4-FFF2-40B4-BE49-F238E27FC236}">
                <a16:creationId xmlns:a16="http://schemas.microsoft.com/office/drawing/2014/main" id="{EC8F4024-F59E-4B90-840D-41D0E773185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41589F1-A6C1-473D-BB65-907312A8709C}"/>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991295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45CBC7-915A-4807-B2A2-F016CA51EAA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9F668C2-E0C2-496F-A890-7A891809DCE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ED3FD77-A0C9-4876-AEF2-6F76D000DD37}"/>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BDB1F457-014F-493C-AD01-5D1F3FDF949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5AB4BD-9A50-4124-8101-BAF144CDE57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687896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032FE00-3985-4E06-8B20-747C3873394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C50C4F4-DFCB-445F-9A53-440BF71597E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8EE0B1-6889-4B9B-A757-E15523E57F34}"/>
              </a:ext>
            </a:extLst>
          </p:cNvPr>
          <p:cNvSpPr>
            <a:spLocks noGrp="1"/>
          </p:cNvSpPr>
          <p:nvPr>
            <p:ph type="dt" sz="half" idx="10"/>
          </p:nvPr>
        </p:nvSpPr>
        <p:spPr/>
        <p:txBody>
          <a:body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BE88FD8F-8065-4EB7-BDAD-CDCD1BC09AE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B7B711D-6ABA-41D4-A969-413B391F66E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293415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FB43D07-DFC5-45F0-A170-8A58F022E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2565A-7377-446E-AF16-28B55C5B74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F6A5A4-02D8-4B3E-BFEF-13352CDB1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6A0552-59A8-4316-96BC-911E78AD02A6}" type="datetimeFigureOut">
              <a:rPr kumimoji="1" lang="ja-JP" altLang="en-US" smtClean="0"/>
              <a:t>2026/10/26</a:t>
            </a:fld>
            <a:endParaRPr kumimoji="1" lang="ja-JP" altLang="en-US"/>
          </a:p>
        </p:txBody>
      </p:sp>
      <p:sp>
        <p:nvSpPr>
          <p:cNvPr id="5" name="フッター プレースホルダー 4">
            <a:extLst>
              <a:ext uri="{FF2B5EF4-FFF2-40B4-BE49-F238E27FC236}">
                <a16:creationId xmlns:a16="http://schemas.microsoft.com/office/drawing/2014/main" id="{7D946F7D-F158-4391-A6DE-EEC1168527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314F629-8CD1-47CE-A585-972D0B9C04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467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C38740D2-79DD-450D-9441-B3B4ADD5EB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192" y="309264"/>
            <a:ext cx="7888748" cy="2644151"/>
          </a:xfrm>
          <a:prstGeom prst="rect">
            <a:avLst/>
          </a:prstGeom>
        </p:spPr>
      </p:pic>
      <p:sp>
        <p:nvSpPr>
          <p:cNvPr id="2" name="テキスト ボックス 1">
            <a:extLst>
              <a:ext uri="{FF2B5EF4-FFF2-40B4-BE49-F238E27FC236}">
                <a16:creationId xmlns:a16="http://schemas.microsoft.com/office/drawing/2014/main" id="{FFF32CF7-9628-4EBA-AACE-F7E4D8844C71}"/>
              </a:ext>
            </a:extLst>
          </p:cNvPr>
          <p:cNvSpPr txBox="1"/>
          <p:nvPr/>
        </p:nvSpPr>
        <p:spPr>
          <a:xfrm>
            <a:off x="812800" y="660400"/>
            <a:ext cx="10566400" cy="369332"/>
          </a:xfrm>
          <a:prstGeom prst="rect">
            <a:avLst/>
          </a:prstGeom>
          <a:noFill/>
        </p:spPr>
        <p:txBody>
          <a:bodyPr vert="horz" wrap="square" lIns="0" tIns="0" rIns="0" bIns="0" rtlCol="0" anchor="t">
            <a:noAutofit/>
          </a:bodyPr>
          <a:lstStyle/>
          <a:p>
            <a:pPr>
              <a:spcAft>
                <a:spcPts val="400"/>
              </a:spcAft>
            </a:pPr>
            <a:r>
              <a:rPr kumimoji="1" lang="zh-TW" altLang="en-US" sz="1600" b="1">
                <a:solidFill>
                  <a:srgbClr val="F7B6D2"/>
                </a:solidFill>
                <a:latin typeface="BIZ UDPゴシック" panose="020B0400000000000000" pitchFamily="50" charset="-128"/>
                <a:ea typeface="BIZ UDPゴシック" panose="020B0400000000000000" pitchFamily="50" charset="-128"/>
              </a:rPr>
              <a:t>情報処理科</a:t>
            </a:r>
            <a:r>
              <a:rPr kumimoji="1" lang="en-US" altLang="zh-TW" sz="1600" b="1">
                <a:solidFill>
                  <a:srgbClr val="F7B6D2"/>
                </a:solidFill>
                <a:latin typeface="BIZ UDPゴシック" panose="020B0400000000000000" pitchFamily="50" charset="-128"/>
                <a:ea typeface="BIZ UDPゴシック" panose="020B0400000000000000" pitchFamily="50" charset="-128"/>
              </a:rPr>
              <a:t>2</a:t>
            </a:r>
            <a:r>
              <a:rPr kumimoji="1" lang="zh-TW" altLang="en-US" sz="1600" b="1">
                <a:solidFill>
                  <a:srgbClr val="F7B6D2"/>
                </a:solidFill>
                <a:latin typeface="BIZ UDPゴシック" panose="020B0400000000000000" pitchFamily="50" charset="-128"/>
                <a:ea typeface="BIZ UDPゴシック" panose="020B0400000000000000" pitchFamily="50" charset="-128"/>
              </a:rPr>
              <a:t>年 </a:t>
            </a:r>
            <a:r>
              <a:rPr kumimoji="1" lang="en-US" altLang="zh-TW" sz="1600" b="1">
                <a:solidFill>
                  <a:srgbClr val="F7B6D2"/>
                </a:solidFill>
                <a:latin typeface="BIZ UDPゴシック" panose="020B0400000000000000" pitchFamily="50" charset="-128"/>
                <a:ea typeface="BIZ UDPゴシック" panose="020B0400000000000000" pitchFamily="50" charset="-128"/>
              </a:rPr>
              <a:t>3</a:t>
            </a:r>
            <a:r>
              <a:rPr kumimoji="1" lang="zh-TW" altLang="en-US" sz="1600" b="1">
                <a:solidFill>
                  <a:srgbClr val="F7B6D2"/>
                </a:solidFill>
                <a:latin typeface="BIZ UDPゴシック" panose="020B0400000000000000" pitchFamily="50" charset="-128"/>
                <a:ea typeface="BIZ UDPゴシック" panose="020B0400000000000000" pitchFamily="50" charset="-128"/>
              </a:rPr>
              <a:t>班</a:t>
            </a:r>
            <a:endParaRPr kumimoji="1" lang="ja-JP" altLang="en-US" sz="1600" b="1">
              <a:solidFill>
                <a:srgbClr val="F7B6D2"/>
              </a:solidFill>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9BD1CD20-F88F-4DC2-B140-9E6A6A14348C}"/>
              </a:ext>
            </a:extLst>
          </p:cNvPr>
          <p:cNvSpPr txBox="1"/>
          <p:nvPr/>
        </p:nvSpPr>
        <p:spPr>
          <a:xfrm>
            <a:off x="812800" y="2353787"/>
            <a:ext cx="7888748" cy="381000"/>
          </a:xfrm>
          <a:prstGeom prst="rect">
            <a:avLst/>
          </a:prstGeom>
          <a:noFill/>
        </p:spPr>
        <p:txBody>
          <a:bodyPr vert="horz" wrap="square" lIns="0" tIns="0" rIns="0" bIns="0" rtlCol="0" anchor="t">
            <a:noAutofit/>
          </a:bodyPr>
          <a:lstStyle/>
          <a:p>
            <a:pPr>
              <a:spcAft>
                <a:spcPts val="400"/>
              </a:spcAft>
            </a:pPr>
            <a:r>
              <a:rPr kumimoji="1" lang="ja-JP" altLang="en-US" sz="2000" dirty="0">
                <a:solidFill>
                  <a:srgbClr val="FFFFFF"/>
                </a:solidFill>
                <a:latin typeface="BIZ UDPゴシック" panose="020B0400000000000000" pitchFamily="50" charset="-128"/>
                <a:ea typeface="BIZ UDPゴシック" panose="020B0400000000000000" pitchFamily="50" charset="-128"/>
              </a:rPr>
              <a:t>音楽に合わせて、落ちてくるウイルスをキーで叩くリズムゲーム</a:t>
            </a:r>
          </a:p>
        </p:txBody>
      </p:sp>
      <p:sp>
        <p:nvSpPr>
          <p:cNvPr id="5" name="四角形: 角を丸くする 4">
            <a:extLst>
              <a:ext uri="{FF2B5EF4-FFF2-40B4-BE49-F238E27FC236}">
                <a16:creationId xmlns:a16="http://schemas.microsoft.com/office/drawing/2014/main" id="{FF3D9226-1082-4D93-AD3F-B17DE10DD5DB}"/>
              </a:ext>
            </a:extLst>
          </p:cNvPr>
          <p:cNvSpPr/>
          <p:nvPr/>
        </p:nvSpPr>
        <p:spPr>
          <a:xfrm>
            <a:off x="8128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3F698BB6-4EFC-411B-9419-4DE4A465FE8E}"/>
              </a:ext>
            </a:extLst>
          </p:cNvPr>
          <p:cNvSpPr/>
          <p:nvPr/>
        </p:nvSpPr>
        <p:spPr>
          <a:xfrm>
            <a:off x="1041400" y="3810000"/>
            <a:ext cx="584200" cy="5842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ja-JP" altLang="en-US" sz="2200" b="1">
                <a:solidFill>
                  <a:srgbClr val="FFFFFF"/>
                </a:solidFill>
                <a:latin typeface="BIZ UDPゴシック" panose="020B0400000000000000" pitchFamily="50" charset="-128"/>
                <a:ea typeface="BIZ UDPゴシック" panose="020B0400000000000000" pitchFamily="50" charset="-128"/>
              </a:rPr>
              <a:t>松</a:t>
            </a:r>
          </a:p>
        </p:txBody>
      </p:sp>
      <p:sp>
        <p:nvSpPr>
          <p:cNvPr id="7" name="テキスト ボックス 6">
            <a:extLst>
              <a:ext uri="{FF2B5EF4-FFF2-40B4-BE49-F238E27FC236}">
                <a16:creationId xmlns:a16="http://schemas.microsoft.com/office/drawing/2014/main" id="{0F7D3655-D282-475E-AB5C-1119C853BEEF}"/>
              </a:ext>
            </a:extLst>
          </p:cNvPr>
          <p:cNvSpPr txBox="1"/>
          <p:nvPr/>
        </p:nvSpPr>
        <p:spPr>
          <a:xfrm>
            <a:off x="1778000" y="3740000"/>
            <a:ext cx="2286000" cy="369332"/>
          </a:xfrm>
          <a:prstGeom prst="rect">
            <a:avLst/>
          </a:prstGeom>
          <a:noFill/>
        </p:spPr>
        <p:txBody>
          <a:bodyPr vert="horz" wrap="square" lIns="0" tIns="0" rIns="0" bIns="0" rtlCol="0" anchor="t">
            <a:noAutofit/>
          </a:bodyPr>
          <a:lstStyle/>
          <a:p>
            <a:pPr>
              <a:spcAft>
                <a:spcPts val="400"/>
              </a:spcAft>
            </a:pPr>
            <a:r>
              <a:rPr kumimoji="1" lang="zh-TW" altLang="en-US" sz="2000" b="1" dirty="0">
                <a:solidFill>
                  <a:srgbClr val="FFFFFF"/>
                </a:solidFill>
                <a:latin typeface="BIZ UDPゴシック" panose="020B0400000000000000" pitchFamily="50" charset="-128"/>
                <a:ea typeface="BIZ UDPゴシック" panose="020B0400000000000000" pitchFamily="50" charset="-128"/>
              </a:rPr>
              <a:t>松井</a:t>
            </a:r>
            <a:r>
              <a:rPr kumimoji="1" lang="ja-JP" altLang="en-US" b="1" dirty="0">
                <a:solidFill>
                  <a:srgbClr val="FFFFFF"/>
                </a:solidFill>
                <a:latin typeface="BIZ UDPゴシック" panose="020B0400000000000000" pitchFamily="50" charset="-128"/>
                <a:ea typeface="BIZ UDPゴシック" panose="020B0400000000000000" pitchFamily="50" charset="-128"/>
              </a:rPr>
              <a:t>　</a:t>
            </a:r>
            <a:r>
              <a:rPr kumimoji="1" lang="zh-TW" altLang="en-US" sz="1600" b="1" dirty="0">
                <a:solidFill>
                  <a:srgbClr val="FFFFFF"/>
                </a:solidFill>
                <a:latin typeface="BIZ UDPゴシック" panose="020B0400000000000000" pitchFamily="50" charset="-128"/>
                <a:ea typeface="BIZ UDPゴシック" panose="020B0400000000000000" pitchFamily="50" charset="-128"/>
              </a:rPr>
              <a:t>（班長）</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C66F7BAA-151F-4E8F-8DA9-45B4999A1CEC}"/>
              </a:ext>
            </a:extLst>
          </p:cNvPr>
          <p:cNvSpPr txBox="1"/>
          <p:nvPr/>
        </p:nvSpPr>
        <p:spPr>
          <a:xfrm>
            <a:off x="17780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画面・全体のまとめ</a:t>
            </a:r>
          </a:p>
        </p:txBody>
      </p:sp>
      <p:sp>
        <p:nvSpPr>
          <p:cNvPr id="9" name="四角形: 角を丸くする 8">
            <a:extLst>
              <a:ext uri="{FF2B5EF4-FFF2-40B4-BE49-F238E27FC236}">
                <a16:creationId xmlns:a16="http://schemas.microsoft.com/office/drawing/2014/main" id="{11EA4C66-C146-4977-86E1-46EE6734DBBA}"/>
              </a:ext>
            </a:extLst>
          </p:cNvPr>
          <p:cNvSpPr/>
          <p:nvPr/>
        </p:nvSpPr>
        <p:spPr>
          <a:xfrm>
            <a:off x="44196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9FC79B2-71A6-4C2B-98D4-C5A94C6BAD31}"/>
              </a:ext>
            </a:extLst>
          </p:cNvPr>
          <p:cNvSpPr txBox="1"/>
          <p:nvPr/>
        </p:nvSpPr>
        <p:spPr>
          <a:xfrm>
            <a:off x="53848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岡野</a:t>
            </a:r>
          </a:p>
        </p:txBody>
      </p:sp>
      <p:sp>
        <p:nvSpPr>
          <p:cNvPr id="12" name="テキスト ボックス 11">
            <a:extLst>
              <a:ext uri="{FF2B5EF4-FFF2-40B4-BE49-F238E27FC236}">
                <a16:creationId xmlns:a16="http://schemas.microsoft.com/office/drawing/2014/main" id="{5AF5DDBD-B1EB-4451-86AD-99EDAF00EBE5}"/>
              </a:ext>
            </a:extLst>
          </p:cNvPr>
          <p:cNvSpPr txBox="1"/>
          <p:nvPr/>
        </p:nvSpPr>
        <p:spPr>
          <a:xfrm>
            <a:off x="53848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結果画面・テスト</a:t>
            </a:r>
          </a:p>
        </p:txBody>
      </p:sp>
      <p:sp>
        <p:nvSpPr>
          <p:cNvPr id="13" name="四角形: 角を丸くする 12">
            <a:extLst>
              <a:ext uri="{FF2B5EF4-FFF2-40B4-BE49-F238E27FC236}">
                <a16:creationId xmlns:a16="http://schemas.microsoft.com/office/drawing/2014/main" id="{2B038DE9-846E-4147-A0FC-90024AD8AA44}"/>
              </a:ext>
            </a:extLst>
          </p:cNvPr>
          <p:cNvSpPr/>
          <p:nvPr/>
        </p:nvSpPr>
        <p:spPr>
          <a:xfrm>
            <a:off x="80264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7391AAF3-60B4-4734-B658-9E06659EF2C2}"/>
              </a:ext>
            </a:extLst>
          </p:cNvPr>
          <p:cNvSpPr txBox="1"/>
          <p:nvPr/>
        </p:nvSpPr>
        <p:spPr>
          <a:xfrm>
            <a:off x="89916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中山</a:t>
            </a:r>
          </a:p>
        </p:txBody>
      </p:sp>
      <p:sp>
        <p:nvSpPr>
          <p:cNvPr id="16" name="テキスト ボックス 15">
            <a:extLst>
              <a:ext uri="{FF2B5EF4-FFF2-40B4-BE49-F238E27FC236}">
                <a16:creationId xmlns:a16="http://schemas.microsoft.com/office/drawing/2014/main" id="{2D2AF459-7995-45C3-9469-76D471493CAF}"/>
              </a:ext>
            </a:extLst>
          </p:cNvPr>
          <p:cNvSpPr txBox="1"/>
          <p:nvPr/>
        </p:nvSpPr>
        <p:spPr>
          <a:xfrm>
            <a:off x="89916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ゲームの中身</a:t>
            </a:r>
          </a:p>
          <a:p>
            <a:r>
              <a:rPr kumimoji="1" lang="ja-JP" altLang="en-US" sz="1600">
                <a:solidFill>
                  <a:srgbClr val="D9CFF0"/>
                </a:solidFill>
                <a:latin typeface="BIZ UDPゴシック" panose="020B0400000000000000" pitchFamily="50" charset="-128"/>
                <a:ea typeface="BIZ UDPゴシック" panose="020B0400000000000000" pitchFamily="50" charset="-128"/>
              </a:rPr>
              <a:t>（動き・音・曲）</a:t>
            </a:r>
          </a:p>
        </p:txBody>
      </p:sp>
      <p:sp>
        <p:nvSpPr>
          <p:cNvPr id="17" name="テキスト ボックス 16">
            <a:extLst>
              <a:ext uri="{FF2B5EF4-FFF2-40B4-BE49-F238E27FC236}">
                <a16:creationId xmlns:a16="http://schemas.microsoft.com/office/drawing/2014/main" id="{E3F868B1-7DDA-487A-9967-09D5D714021A}"/>
              </a:ext>
            </a:extLst>
          </p:cNvPr>
          <p:cNvSpPr txBox="1"/>
          <p:nvPr/>
        </p:nvSpPr>
        <p:spPr>
          <a:xfrm>
            <a:off x="812800" y="5334000"/>
            <a:ext cx="105664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F7B6D2"/>
                </a:solidFill>
                <a:latin typeface="BIZ UDPゴシック" panose="020B0400000000000000" pitchFamily="50" charset="-128"/>
                <a:ea typeface="BIZ UDPゴシック" panose="020B0400000000000000" pitchFamily="50" charset="-128"/>
              </a:rPr>
              <a:t>使った</a:t>
            </a:r>
            <a:r>
              <a:rPr kumimoji="1" lang="en-US" altLang="ja-JP" sz="1400" b="1" dirty="0">
                <a:solidFill>
                  <a:srgbClr val="F7B6D2"/>
                </a:solidFill>
                <a:latin typeface="BIZ UDPゴシック" panose="020B0400000000000000" pitchFamily="50" charset="-128"/>
                <a:ea typeface="BIZ UDPゴシック" panose="020B0400000000000000" pitchFamily="50" charset="-128"/>
              </a:rPr>
              <a:t>AI</a:t>
            </a:r>
            <a:endParaRPr kumimoji="1" lang="ja-JP" altLang="en-US" sz="1400" b="1" dirty="0">
              <a:solidFill>
                <a:srgbClr val="F7B6D2"/>
              </a:solidFill>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AB51A8E5-46FA-4766-8AE2-6976D1CC6EAA}"/>
              </a:ext>
            </a:extLst>
          </p:cNvPr>
          <p:cNvSpPr txBox="1"/>
          <p:nvPr/>
        </p:nvSpPr>
        <p:spPr>
          <a:xfrm>
            <a:off x="812800" y="5664200"/>
            <a:ext cx="10566400" cy="369332"/>
          </a:xfrm>
          <a:prstGeom prst="rect">
            <a:avLst/>
          </a:prstGeom>
          <a:noFill/>
        </p:spPr>
        <p:txBody>
          <a:bodyPr vert="horz" wrap="square" lIns="0" tIns="0" rIns="0" bIns="0" rtlCol="0" anchor="t">
            <a:noAutofit/>
          </a:bodyPr>
          <a:lstStyle/>
          <a:p>
            <a:pPr>
              <a:spcAft>
                <a:spcPts val="400"/>
              </a:spcAft>
            </a:pPr>
            <a:r>
              <a:rPr kumimoji="1" lang="en-US" altLang="ja-JP">
                <a:solidFill>
                  <a:srgbClr val="FFFFFF"/>
                </a:solidFill>
                <a:latin typeface="BIZ UDPゴシック" panose="020B0400000000000000" pitchFamily="50" charset="-128"/>
                <a:ea typeface="BIZ UDPゴシック" panose="020B0400000000000000" pitchFamily="50" charset="-128"/>
              </a:rPr>
              <a:t>Google Gemini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Code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ChatGPT</a:t>
            </a:r>
            <a:endParaRPr kumimoji="1" lang="ja-JP" altLang="en-US">
              <a:solidFill>
                <a:srgbClr val="FFFFFF"/>
              </a:solidFill>
              <a:latin typeface="BIZ UDPゴシック" panose="020B0400000000000000" pitchFamily="50" charset="-128"/>
              <a:ea typeface="BIZ UDPゴシック" panose="020B0400000000000000" pitchFamily="50" charset="-128"/>
            </a:endParaRPr>
          </a:p>
        </p:txBody>
      </p:sp>
      <p:pic>
        <p:nvPicPr>
          <p:cNvPr id="21" name="キャラ0" descr="ゲームのキャラクター">
            <a:extLst>
              <a:ext uri="{FF2B5EF4-FFF2-40B4-BE49-F238E27FC236}">
                <a16:creationId xmlns:a16="http://schemas.microsoft.com/office/drawing/2014/main" id="{FDE0A68C-1D3B-4BE9-B9C6-AF32B494D9BB}"/>
              </a:ext>
            </a:extLst>
          </p:cNvPr>
          <p:cNvPicPr>
            <a:picLocks noChangeAspect="1"/>
          </p:cNvPicPr>
          <p:nvPr/>
        </p:nvPicPr>
        <p:blipFill>
          <a:blip r:embed="rId4"/>
          <a:stretch>
            <a:fillRect/>
          </a:stretch>
        </p:blipFill>
        <p:spPr>
          <a:xfrm>
            <a:off x="876662" y="3667760"/>
            <a:ext cx="868680" cy="868680"/>
          </a:xfrm>
          <a:prstGeom prst="rect">
            <a:avLst/>
          </a:prstGeom>
        </p:spPr>
      </p:pic>
      <p:pic>
        <p:nvPicPr>
          <p:cNvPr id="22" name="キャラ1" descr="ゲームのキャラクター">
            <a:extLst>
              <a:ext uri="{FF2B5EF4-FFF2-40B4-BE49-F238E27FC236}">
                <a16:creationId xmlns:a16="http://schemas.microsoft.com/office/drawing/2014/main" id="{159BFA72-680C-436D-AECB-CCD5CCE69668}"/>
              </a:ext>
            </a:extLst>
          </p:cNvPr>
          <p:cNvPicPr>
            <a:picLocks noChangeAspect="1"/>
          </p:cNvPicPr>
          <p:nvPr/>
        </p:nvPicPr>
        <p:blipFill>
          <a:blip r:embed="rId5"/>
          <a:stretch>
            <a:fillRect/>
          </a:stretch>
        </p:blipFill>
        <p:spPr>
          <a:xfrm>
            <a:off x="8082192" y="3677382"/>
            <a:ext cx="868680" cy="920173"/>
          </a:xfrm>
          <a:prstGeom prst="rect">
            <a:avLst/>
          </a:prstGeom>
        </p:spPr>
      </p:pic>
      <p:pic>
        <p:nvPicPr>
          <p:cNvPr id="23" name="キャラ2" descr="ゲームのキャラクター">
            <a:extLst>
              <a:ext uri="{FF2B5EF4-FFF2-40B4-BE49-F238E27FC236}">
                <a16:creationId xmlns:a16="http://schemas.microsoft.com/office/drawing/2014/main" id="{3448302C-8DD5-4B5F-AC26-03FE02E694C0}"/>
              </a:ext>
            </a:extLst>
          </p:cNvPr>
          <p:cNvPicPr>
            <a:picLocks noChangeAspect="1"/>
          </p:cNvPicPr>
          <p:nvPr/>
        </p:nvPicPr>
        <p:blipFill>
          <a:blip r:embed="rId6"/>
          <a:stretch>
            <a:fillRect/>
          </a:stretch>
        </p:blipFill>
        <p:spPr>
          <a:xfrm>
            <a:off x="4549866" y="3775002"/>
            <a:ext cx="777240" cy="781758"/>
          </a:xfrm>
          <a:prstGeom prst="rect">
            <a:avLst/>
          </a:prstGeom>
        </p:spPr>
      </p:pic>
    </p:spTree>
    <p:extLst>
      <p:ext uri="{BB962C8B-B14F-4D97-AF65-F5344CB8AC3E}">
        <p14:creationId xmlns:p14="http://schemas.microsoft.com/office/powerpoint/2010/main" val="2544056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四角形: 角を丸くする 23">
            <a:extLst>
              <a:ext uri="{FF2B5EF4-FFF2-40B4-BE49-F238E27FC236}">
                <a16:creationId xmlns:a16="http://schemas.microsoft.com/office/drawing/2014/main" id="{0FE303DE-4A27-46CE-A5B7-F25CF0591C5B}"/>
              </a:ext>
            </a:extLst>
          </p:cNvPr>
          <p:cNvSpPr/>
          <p:nvPr/>
        </p:nvSpPr>
        <p:spPr>
          <a:xfrm>
            <a:off x="7258051" y="2990812"/>
            <a:ext cx="4591050" cy="3359188"/>
          </a:xfrm>
          <a:prstGeom prst="roundRect">
            <a:avLst>
              <a:gd name="adj" fmla="val 8000"/>
            </a:avLst>
          </a:prstGeom>
          <a:solidFill>
            <a:srgbClr val="2B1F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A0E4D461-EE0D-46B4-89E9-D93303E0DC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860" y="3262197"/>
            <a:ext cx="3905455" cy="1309031"/>
          </a:xfrm>
          <a:prstGeom prst="rect">
            <a:avLst/>
          </a:prstGeom>
        </p:spPr>
      </p:pic>
      <p:sp>
        <p:nvSpPr>
          <p:cNvPr id="2" name="テキスト ボックス 1">
            <a:extLst>
              <a:ext uri="{FF2B5EF4-FFF2-40B4-BE49-F238E27FC236}">
                <a16:creationId xmlns:a16="http://schemas.microsoft.com/office/drawing/2014/main" id="{47E95758-66E7-47B2-89E5-E8DDAA275611}"/>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2B1F4A"/>
                </a:solidFill>
                <a:latin typeface="BIZ UDPゴシック" panose="020B0400000000000000" pitchFamily="50" charset="-128"/>
                <a:ea typeface="BIZ UDPゴシック" panose="020B0400000000000000" pitchFamily="50" charset="-128"/>
              </a:rPr>
              <a:t>ターゲット・課題</a:t>
            </a:r>
          </a:p>
        </p:txBody>
      </p:sp>
      <p:sp>
        <p:nvSpPr>
          <p:cNvPr id="3" name="四角形: 角を丸くする 2">
            <a:extLst>
              <a:ext uri="{FF2B5EF4-FFF2-40B4-BE49-F238E27FC236}">
                <a16:creationId xmlns:a16="http://schemas.microsoft.com/office/drawing/2014/main" id="{20766B83-04F2-470A-A743-CE0D572B73B1}"/>
              </a:ext>
            </a:extLst>
          </p:cNvPr>
          <p:cNvSpPr/>
          <p:nvPr/>
        </p:nvSpPr>
        <p:spPr>
          <a:xfrm>
            <a:off x="683289" y="1219200"/>
            <a:ext cx="6241386" cy="5130800"/>
          </a:xfrm>
          <a:prstGeom prst="roundRect">
            <a:avLst>
              <a:gd name="adj" fmla="val 8000"/>
            </a:avLst>
          </a:prstGeom>
          <a:solidFill>
            <a:srgbClr val="F3EE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 name="図 4">
            <a:extLst>
              <a:ext uri="{FF2B5EF4-FFF2-40B4-BE49-F238E27FC236}">
                <a16:creationId xmlns:a16="http://schemas.microsoft.com/office/drawing/2014/main" id="{5306A591-E482-4E4E-89D3-881EDBE44B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543" y="920504"/>
            <a:ext cx="4344543" cy="5792724"/>
          </a:xfrm>
          <a:prstGeom prst="rect">
            <a:avLst/>
          </a:prstGeom>
          <a:effectLst>
            <a:outerShdw blurRad="50800" dist="38100" algn="l" rotWithShape="0">
              <a:prstClr val="black">
                <a:alpha val="40000"/>
              </a:prstClr>
            </a:outerShdw>
          </a:effectLst>
        </p:spPr>
      </p:pic>
      <p:sp>
        <p:nvSpPr>
          <p:cNvPr id="6" name="テキスト ボックス 5">
            <a:extLst>
              <a:ext uri="{FF2B5EF4-FFF2-40B4-BE49-F238E27FC236}">
                <a16:creationId xmlns:a16="http://schemas.microsoft.com/office/drawing/2014/main" id="{83408D1C-5507-426F-B5CF-442D3B230E8C}"/>
              </a:ext>
            </a:extLst>
          </p:cNvPr>
          <p:cNvSpPr txBox="1"/>
          <p:nvPr/>
        </p:nvSpPr>
        <p:spPr>
          <a:xfrm>
            <a:off x="2940050" y="1572085"/>
            <a:ext cx="3556000" cy="369332"/>
          </a:xfrm>
          <a:prstGeom prst="rect">
            <a:avLst/>
          </a:prstGeom>
          <a:noFill/>
        </p:spPr>
        <p:txBody>
          <a:bodyPr vert="horz" wrap="square" lIns="0" tIns="0" rIns="0" bIns="0" rtlCol="0" anchor="t">
            <a:noAutofit/>
          </a:bodyPr>
          <a:lstStyle/>
          <a:p>
            <a:pPr>
              <a:spcAft>
                <a:spcPts val="400"/>
              </a:spcAft>
            </a:pPr>
            <a:r>
              <a:rPr kumimoji="1" lang="ja-JP" altLang="en-US" sz="1600" b="1" dirty="0">
                <a:solidFill>
                  <a:srgbClr val="E2368A"/>
                </a:solidFill>
                <a:latin typeface="BIZ UDPゴシック" panose="020B0400000000000000" pitchFamily="50" charset="-128"/>
                <a:ea typeface="BIZ UDPゴシック" panose="020B0400000000000000" pitchFamily="50" charset="-128"/>
              </a:rPr>
              <a:t>ペルソナ（ターゲットユーザー）</a:t>
            </a:r>
          </a:p>
        </p:txBody>
      </p:sp>
      <p:sp>
        <p:nvSpPr>
          <p:cNvPr id="7" name="テキスト ボックス 6">
            <a:extLst>
              <a:ext uri="{FF2B5EF4-FFF2-40B4-BE49-F238E27FC236}">
                <a16:creationId xmlns:a16="http://schemas.microsoft.com/office/drawing/2014/main" id="{1A5CDD5E-F823-4F19-A097-947746503B9C}"/>
              </a:ext>
            </a:extLst>
          </p:cNvPr>
          <p:cNvSpPr txBox="1"/>
          <p:nvPr/>
        </p:nvSpPr>
        <p:spPr>
          <a:xfrm>
            <a:off x="2940050" y="21446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名前</a:t>
            </a:r>
          </a:p>
        </p:txBody>
      </p:sp>
      <p:sp>
        <p:nvSpPr>
          <p:cNvPr id="8" name="テキスト ボックス 7">
            <a:extLst>
              <a:ext uri="{FF2B5EF4-FFF2-40B4-BE49-F238E27FC236}">
                <a16:creationId xmlns:a16="http://schemas.microsoft.com/office/drawing/2014/main" id="{B10B937C-ABFE-4F5A-B20B-EA9691035369}"/>
              </a:ext>
            </a:extLst>
          </p:cNvPr>
          <p:cNvSpPr txBox="1"/>
          <p:nvPr/>
        </p:nvSpPr>
        <p:spPr>
          <a:xfrm>
            <a:off x="3676650" y="2144699"/>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松田みゆ（女性・</a:t>
            </a:r>
            <a:r>
              <a:rPr kumimoji="1" lang="en-US" altLang="ja-JP" sz="1500" dirty="0">
                <a:solidFill>
                  <a:srgbClr val="2B1F4A"/>
                </a:solidFill>
                <a:latin typeface="BIZ UDPゴシック" panose="020B0400000000000000" pitchFamily="50" charset="-128"/>
                <a:ea typeface="BIZ UDPゴシック" panose="020B0400000000000000" pitchFamily="50" charset="-128"/>
              </a:rPr>
              <a:t>17</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p>
        </p:txBody>
      </p:sp>
      <p:sp>
        <p:nvSpPr>
          <p:cNvPr id="9" name="テキスト ボックス 8">
            <a:extLst>
              <a:ext uri="{FF2B5EF4-FFF2-40B4-BE49-F238E27FC236}">
                <a16:creationId xmlns:a16="http://schemas.microsoft.com/office/drawing/2014/main" id="{DAA1A2D9-4A07-48AA-A583-12E839376D9C}"/>
              </a:ext>
            </a:extLst>
          </p:cNvPr>
          <p:cNvSpPr txBox="1"/>
          <p:nvPr/>
        </p:nvSpPr>
        <p:spPr>
          <a:xfrm>
            <a:off x="2940050" y="25764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家族</a:t>
            </a:r>
          </a:p>
        </p:txBody>
      </p:sp>
      <p:sp>
        <p:nvSpPr>
          <p:cNvPr id="10" name="テキスト ボックス 9">
            <a:extLst>
              <a:ext uri="{FF2B5EF4-FFF2-40B4-BE49-F238E27FC236}">
                <a16:creationId xmlns:a16="http://schemas.microsoft.com/office/drawing/2014/main" id="{919A5C2D-6665-446F-B11A-90AF9892E81C}"/>
              </a:ext>
            </a:extLst>
          </p:cNvPr>
          <p:cNvSpPr txBox="1"/>
          <p:nvPr/>
        </p:nvSpPr>
        <p:spPr>
          <a:xfrm>
            <a:off x="3676650" y="2576499"/>
            <a:ext cx="2924175" cy="766776"/>
          </a:xfrm>
          <a:prstGeom prst="rect">
            <a:avLst/>
          </a:prstGeom>
          <a:noFill/>
        </p:spPr>
        <p:txBody>
          <a:bodyPr vert="horz" wrap="square" lIns="0" tIns="0" rIns="0" bIns="0" rtlCol="0" anchor="t">
            <a:noAutofit/>
          </a:bodyPr>
          <a:lstStyle/>
          <a:p>
            <a:pPr>
              <a:spcAft>
                <a:spcPts val="400"/>
              </a:spcAft>
            </a:pPr>
            <a:r>
              <a:rPr kumimoji="1" lang="en-US" altLang="ja-JP" sz="1500" dirty="0">
                <a:solidFill>
                  <a:srgbClr val="2B1F4A"/>
                </a:solidFill>
                <a:latin typeface="BIZ UDPゴシック" panose="020B0400000000000000" pitchFamily="50" charset="-128"/>
                <a:ea typeface="BIZ UDPゴシック" panose="020B0400000000000000" pitchFamily="50" charset="-128"/>
              </a:rPr>
              <a:t>4</a:t>
            </a:r>
            <a:r>
              <a:rPr kumimoji="1" lang="ja-JP" altLang="en-US" sz="1500" dirty="0">
                <a:solidFill>
                  <a:srgbClr val="2B1F4A"/>
                </a:solidFill>
                <a:latin typeface="BIZ UDPゴシック" panose="020B0400000000000000" pitchFamily="50" charset="-128"/>
                <a:ea typeface="BIZ UDPゴシック" panose="020B0400000000000000" pitchFamily="50" charset="-128"/>
              </a:rPr>
              <a:t>人家族（父・母・兄</a:t>
            </a:r>
            <a:r>
              <a:rPr kumimoji="1" lang="en-US" altLang="ja-JP" sz="1500" dirty="0">
                <a:solidFill>
                  <a:srgbClr val="2B1F4A"/>
                </a:solidFill>
                <a:latin typeface="BIZ UDPゴシック" panose="020B0400000000000000" pitchFamily="50" charset="-128"/>
                <a:ea typeface="BIZ UDPゴシック" panose="020B0400000000000000" pitchFamily="50" charset="-128"/>
              </a:rPr>
              <a:t>20</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両親は</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系の仕事で、自分も</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に興味がある</a:t>
            </a:r>
          </a:p>
        </p:txBody>
      </p:sp>
      <p:sp>
        <p:nvSpPr>
          <p:cNvPr id="11" name="テキスト ボックス 10">
            <a:extLst>
              <a:ext uri="{FF2B5EF4-FFF2-40B4-BE49-F238E27FC236}">
                <a16:creationId xmlns:a16="http://schemas.microsoft.com/office/drawing/2014/main" id="{DB5723D9-57A4-40E1-B3FF-20DCED1DA5E4}"/>
              </a:ext>
            </a:extLst>
          </p:cNvPr>
          <p:cNvSpPr txBox="1"/>
          <p:nvPr/>
        </p:nvSpPr>
        <p:spPr>
          <a:xfrm>
            <a:off x="2940050" y="35818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住まい</a:t>
            </a:r>
          </a:p>
        </p:txBody>
      </p:sp>
      <p:sp>
        <p:nvSpPr>
          <p:cNvPr id="12" name="テキスト ボックス 11">
            <a:extLst>
              <a:ext uri="{FF2B5EF4-FFF2-40B4-BE49-F238E27FC236}">
                <a16:creationId xmlns:a16="http://schemas.microsoft.com/office/drawing/2014/main" id="{586BD67A-6E31-4B4A-A1BE-955802F79600}"/>
              </a:ext>
            </a:extLst>
          </p:cNvPr>
          <p:cNvSpPr txBox="1"/>
          <p:nvPr/>
        </p:nvSpPr>
        <p:spPr>
          <a:xfrm>
            <a:off x="3676650" y="35818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東京都</a:t>
            </a:r>
          </a:p>
        </p:txBody>
      </p:sp>
      <p:sp>
        <p:nvSpPr>
          <p:cNvPr id="13" name="テキスト ボックス 12">
            <a:extLst>
              <a:ext uri="{FF2B5EF4-FFF2-40B4-BE49-F238E27FC236}">
                <a16:creationId xmlns:a16="http://schemas.microsoft.com/office/drawing/2014/main" id="{29F63D3A-04D4-4117-9E96-5EB2C1D6B0ED}"/>
              </a:ext>
            </a:extLst>
          </p:cNvPr>
          <p:cNvSpPr txBox="1"/>
          <p:nvPr/>
        </p:nvSpPr>
        <p:spPr>
          <a:xfrm>
            <a:off x="2940050" y="40136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学校</a:t>
            </a:r>
          </a:p>
        </p:txBody>
      </p:sp>
      <p:sp>
        <p:nvSpPr>
          <p:cNvPr id="14" name="テキスト ボックス 13">
            <a:extLst>
              <a:ext uri="{FF2B5EF4-FFF2-40B4-BE49-F238E27FC236}">
                <a16:creationId xmlns:a16="http://schemas.microsoft.com/office/drawing/2014/main" id="{C6CB4E46-0A7C-42AB-9586-F6BB99DAB279}"/>
              </a:ext>
            </a:extLst>
          </p:cNvPr>
          <p:cNvSpPr txBox="1"/>
          <p:nvPr/>
        </p:nvSpPr>
        <p:spPr>
          <a:xfrm>
            <a:off x="3676650" y="40136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都立高校</a:t>
            </a:r>
            <a:r>
              <a:rPr kumimoji="1" lang="en-US" altLang="ja-JP" sz="1500" dirty="0">
                <a:solidFill>
                  <a:srgbClr val="2B1F4A"/>
                </a:solidFill>
                <a:latin typeface="BIZ UDPゴシック" panose="020B0400000000000000" pitchFamily="50" charset="-128"/>
                <a:ea typeface="BIZ UDPゴシック" panose="020B0400000000000000" pitchFamily="50" charset="-128"/>
              </a:rPr>
              <a:t>2</a:t>
            </a:r>
            <a:r>
              <a:rPr kumimoji="1" lang="ja-JP" altLang="en-US" sz="1500" dirty="0">
                <a:solidFill>
                  <a:srgbClr val="2B1F4A"/>
                </a:solidFill>
                <a:latin typeface="BIZ UDPゴシック" panose="020B0400000000000000" pitchFamily="50" charset="-128"/>
                <a:ea typeface="BIZ UDPゴシック" panose="020B0400000000000000" pitchFamily="50" charset="-128"/>
              </a:rPr>
              <a:t>年</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ハンドボール部のマネージャー</a:t>
            </a:r>
          </a:p>
        </p:txBody>
      </p:sp>
      <p:sp>
        <p:nvSpPr>
          <p:cNvPr id="15" name="テキスト ボックス 14">
            <a:extLst>
              <a:ext uri="{FF2B5EF4-FFF2-40B4-BE49-F238E27FC236}">
                <a16:creationId xmlns:a16="http://schemas.microsoft.com/office/drawing/2014/main" id="{504E9FB3-E95A-4EE5-886A-2EF61AA515CD}"/>
              </a:ext>
            </a:extLst>
          </p:cNvPr>
          <p:cNvSpPr txBox="1"/>
          <p:nvPr/>
        </p:nvSpPr>
        <p:spPr>
          <a:xfrm>
            <a:off x="2940050" y="46994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好き</a:t>
            </a:r>
          </a:p>
        </p:txBody>
      </p:sp>
      <p:sp>
        <p:nvSpPr>
          <p:cNvPr id="16" name="テキスト ボックス 15">
            <a:extLst>
              <a:ext uri="{FF2B5EF4-FFF2-40B4-BE49-F238E27FC236}">
                <a16:creationId xmlns:a16="http://schemas.microsoft.com/office/drawing/2014/main" id="{546F6BA8-3EBE-4F54-A681-B00E6F02CE0B}"/>
              </a:ext>
            </a:extLst>
          </p:cNvPr>
          <p:cNvSpPr txBox="1"/>
          <p:nvPr/>
        </p:nvSpPr>
        <p:spPr>
          <a:xfrm>
            <a:off x="3676650" y="46994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メイクとかわいいものが大好き</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見た目はギャル</a:t>
            </a:r>
          </a:p>
        </p:txBody>
      </p:sp>
      <p:sp>
        <p:nvSpPr>
          <p:cNvPr id="17" name="テキスト ボックス 16">
            <a:extLst>
              <a:ext uri="{FF2B5EF4-FFF2-40B4-BE49-F238E27FC236}">
                <a16:creationId xmlns:a16="http://schemas.microsoft.com/office/drawing/2014/main" id="{D47E4D8D-3F61-468B-B8F8-65FC23BE9175}"/>
              </a:ext>
            </a:extLst>
          </p:cNvPr>
          <p:cNvSpPr txBox="1"/>
          <p:nvPr/>
        </p:nvSpPr>
        <p:spPr>
          <a:xfrm>
            <a:off x="2940050" y="53852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悩み</a:t>
            </a:r>
          </a:p>
        </p:txBody>
      </p:sp>
      <p:sp>
        <p:nvSpPr>
          <p:cNvPr id="18" name="テキスト ボックス 17">
            <a:extLst>
              <a:ext uri="{FF2B5EF4-FFF2-40B4-BE49-F238E27FC236}">
                <a16:creationId xmlns:a16="http://schemas.microsoft.com/office/drawing/2014/main" id="{9027A65D-8A56-4A30-97B1-88A231473A0D}"/>
              </a:ext>
            </a:extLst>
          </p:cNvPr>
          <p:cNvSpPr txBox="1"/>
          <p:nvPr/>
        </p:nvSpPr>
        <p:spPr>
          <a:xfrm>
            <a:off x="3676650" y="53852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楽しいイベントに行きたいけれど、</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お金がない</a:t>
            </a:r>
          </a:p>
        </p:txBody>
      </p:sp>
      <p:sp>
        <p:nvSpPr>
          <p:cNvPr id="19" name="四角形: 角を丸くする 18">
            <a:extLst>
              <a:ext uri="{FF2B5EF4-FFF2-40B4-BE49-F238E27FC236}">
                <a16:creationId xmlns:a16="http://schemas.microsoft.com/office/drawing/2014/main" id="{76C68752-FFC4-4836-AA81-5E0B0B891A3D}"/>
              </a:ext>
            </a:extLst>
          </p:cNvPr>
          <p:cNvSpPr/>
          <p:nvPr/>
        </p:nvSpPr>
        <p:spPr>
          <a:xfrm>
            <a:off x="7258051" y="1219200"/>
            <a:ext cx="4591050" cy="1294831"/>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B504170F-B157-445E-817F-578FD2FBD159}"/>
              </a:ext>
            </a:extLst>
          </p:cNvPr>
          <p:cNvSpPr txBox="1"/>
          <p:nvPr/>
        </p:nvSpPr>
        <p:spPr>
          <a:xfrm>
            <a:off x="7478295" y="1389465"/>
            <a:ext cx="2997200" cy="369332"/>
          </a:xfrm>
          <a:prstGeom prst="rect">
            <a:avLst/>
          </a:prstGeom>
          <a:noFill/>
        </p:spPr>
        <p:txBody>
          <a:bodyPr vert="horz" wrap="square" lIns="0" tIns="0" rIns="0" bIns="0" rtlCol="0" anchor="t">
            <a:noAutofit/>
          </a:bodyPr>
          <a:lstStyle/>
          <a:p>
            <a:pPr>
              <a:spcAft>
                <a:spcPts val="400"/>
              </a:spcAft>
            </a:pPr>
            <a:r>
              <a:rPr kumimoji="1" lang="ja-JP" altLang="en-US" sz="1500" b="1" dirty="0">
                <a:solidFill>
                  <a:srgbClr val="E2368A"/>
                </a:solidFill>
                <a:latin typeface="BIZ UDPゴシック" panose="020B0400000000000000" pitchFamily="50" charset="-128"/>
                <a:ea typeface="BIZ UDPゴシック" panose="020B0400000000000000" pitchFamily="50" charset="-128"/>
              </a:rPr>
              <a:t>課題</a:t>
            </a:r>
          </a:p>
        </p:txBody>
      </p:sp>
      <p:sp>
        <p:nvSpPr>
          <p:cNvPr id="21" name="テキスト ボックス 20">
            <a:extLst>
              <a:ext uri="{FF2B5EF4-FFF2-40B4-BE49-F238E27FC236}">
                <a16:creationId xmlns:a16="http://schemas.microsoft.com/office/drawing/2014/main" id="{66AF5EAC-E926-4CD8-928F-090A3EBF0DFD}"/>
              </a:ext>
            </a:extLst>
          </p:cNvPr>
          <p:cNvSpPr txBox="1"/>
          <p:nvPr/>
        </p:nvSpPr>
        <p:spPr>
          <a:xfrm>
            <a:off x="7462420" y="1695981"/>
            <a:ext cx="4272486" cy="360407"/>
          </a:xfrm>
          <a:prstGeom prst="rect">
            <a:avLst/>
          </a:prstGeom>
          <a:noFill/>
        </p:spPr>
        <p:txBody>
          <a:bodyPr vert="horz" wrap="square" lIns="0" tIns="0" rIns="0" bIns="0" rtlCol="0" anchor="t">
            <a:noAutofit/>
          </a:bodyPr>
          <a:lstStyle/>
          <a:p>
            <a:pPr>
              <a:spcAft>
                <a:spcPts val="400"/>
              </a:spcAft>
            </a:pPr>
            <a:r>
              <a:rPr kumimoji="1" lang="ja-JP" altLang="en-US" b="1" dirty="0">
                <a:solidFill>
                  <a:srgbClr val="2B1F4A"/>
                </a:solidFill>
                <a:latin typeface="BIZ UDPゴシック" panose="020B0400000000000000" pitchFamily="50" charset="-128"/>
                <a:ea typeface="BIZ UDPゴシック" panose="020B0400000000000000" pitchFamily="50" charset="-128"/>
              </a:rPr>
              <a:t>お金を使わずに、学園祭で楽しく遊びたい</a:t>
            </a:r>
          </a:p>
        </p:txBody>
      </p:sp>
      <p:sp>
        <p:nvSpPr>
          <p:cNvPr id="22" name="テキスト ボックス 21">
            <a:extLst>
              <a:ext uri="{FF2B5EF4-FFF2-40B4-BE49-F238E27FC236}">
                <a16:creationId xmlns:a16="http://schemas.microsoft.com/office/drawing/2014/main" id="{607E2F0F-9937-42AA-8B33-F48EFE6940A8}"/>
              </a:ext>
            </a:extLst>
          </p:cNvPr>
          <p:cNvSpPr txBox="1"/>
          <p:nvPr/>
        </p:nvSpPr>
        <p:spPr>
          <a:xfrm>
            <a:off x="7462420" y="2048864"/>
            <a:ext cx="3990975" cy="290499"/>
          </a:xfrm>
          <a:prstGeom prst="rect">
            <a:avLst/>
          </a:prstGeom>
          <a:noFill/>
        </p:spPr>
        <p:txBody>
          <a:bodyPr vert="horz" wrap="square" lIns="0" tIns="0" rIns="0" bIns="0" rtlCol="0" anchor="t">
            <a:noAutofit/>
          </a:bodyPr>
          <a:lstStyle/>
          <a:p>
            <a:pPr>
              <a:spcAft>
                <a:spcPts val="400"/>
              </a:spcAft>
            </a:pPr>
            <a:r>
              <a:rPr kumimoji="1" lang="ja-JP" altLang="en-US" sz="1300" dirty="0">
                <a:solidFill>
                  <a:srgbClr val="6B5B8C"/>
                </a:solidFill>
                <a:latin typeface="BIZ UDPゴシック" panose="020B0400000000000000" pitchFamily="50" charset="-128"/>
                <a:ea typeface="BIZ UDPゴシック" panose="020B0400000000000000" pitchFamily="50" charset="-128"/>
              </a:rPr>
              <a:t>高校生でも、無料で気軽に楽しめる展示が</a:t>
            </a:r>
            <a:r>
              <a:rPr lang="ja-JP" altLang="en-US" sz="1300" dirty="0">
                <a:solidFill>
                  <a:srgbClr val="6B5B8C"/>
                </a:solidFill>
                <a:latin typeface="BIZ UDPゴシック" panose="020B0400000000000000" pitchFamily="50" charset="-128"/>
                <a:ea typeface="BIZ UDPゴシック" panose="020B0400000000000000" pitchFamily="50" charset="-128"/>
              </a:rPr>
              <a:t>あると嬉しい</a:t>
            </a:r>
            <a:endParaRPr kumimoji="1" lang="ja-JP" altLang="en-US" sz="1300" dirty="0">
              <a:solidFill>
                <a:srgbClr val="6B5B8C"/>
              </a:solidFill>
              <a:latin typeface="BIZ UDPゴシック" panose="020B0400000000000000" pitchFamily="50" charset="-128"/>
              <a:ea typeface="BIZ UDPゴシック" panose="020B0400000000000000" pitchFamily="50" charset="-128"/>
            </a:endParaRPr>
          </a:p>
        </p:txBody>
      </p:sp>
      <p:sp>
        <p:nvSpPr>
          <p:cNvPr id="23" name="矢印: 下 22">
            <a:extLst>
              <a:ext uri="{FF2B5EF4-FFF2-40B4-BE49-F238E27FC236}">
                <a16:creationId xmlns:a16="http://schemas.microsoft.com/office/drawing/2014/main" id="{671A47FE-78AC-416B-96A4-D44A287BCC0B}"/>
              </a:ext>
            </a:extLst>
          </p:cNvPr>
          <p:cNvSpPr/>
          <p:nvPr/>
        </p:nvSpPr>
        <p:spPr>
          <a:xfrm>
            <a:off x="9274176" y="2602852"/>
            <a:ext cx="558800" cy="280000"/>
          </a:xfrm>
          <a:prstGeom prst="downArrow">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12040D5E-9049-4DF4-9273-955495A9113A}"/>
              </a:ext>
            </a:extLst>
          </p:cNvPr>
          <p:cNvSpPr txBox="1"/>
          <p:nvPr/>
        </p:nvSpPr>
        <p:spPr>
          <a:xfrm>
            <a:off x="7973348" y="3229434"/>
            <a:ext cx="3241675"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F7B6D2"/>
                </a:solidFill>
                <a:latin typeface="BIZ UDPゴシック" panose="020B0400000000000000" pitchFamily="50" charset="-128"/>
                <a:ea typeface="BIZ UDPゴシック" panose="020B0400000000000000" pitchFamily="50" charset="-128"/>
              </a:rPr>
              <a:t>そこで、みゆさんに合わせて作ったのが</a:t>
            </a:r>
          </a:p>
        </p:txBody>
      </p:sp>
      <p:sp>
        <p:nvSpPr>
          <p:cNvPr id="27" name="テキスト ボックス 26">
            <a:extLst>
              <a:ext uri="{FF2B5EF4-FFF2-40B4-BE49-F238E27FC236}">
                <a16:creationId xmlns:a16="http://schemas.microsoft.com/office/drawing/2014/main" id="{44839B05-28CB-4839-A678-9D7E871B0E6A}"/>
              </a:ext>
            </a:extLst>
          </p:cNvPr>
          <p:cNvSpPr txBox="1"/>
          <p:nvPr/>
        </p:nvSpPr>
        <p:spPr>
          <a:xfrm>
            <a:off x="8198383" y="4383030"/>
            <a:ext cx="2997200" cy="1685925"/>
          </a:xfrm>
          <a:prstGeom prst="rect">
            <a:avLst/>
          </a:prstGeom>
          <a:noFill/>
        </p:spPr>
        <p:txBody>
          <a:bodyPr vert="horz" wrap="square" lIns="0" tIns="0" rIns="0" bIns="0" rtlCol="0" anchor="t">
            <a:noAutofit/>
          </a:bodyPr>
          <a:lstStyle/>
          <a:p>
            <a:r>
              <a:rPr kumimoji="1" lang="ja-JP" altLang="en-US" sz="1600" b="1" dirty="0">
                <a:solidFill>
                  <a:srgbClr val="F7B6D2"/>
                </a:solidFill>
                <a:latin typeface="BIZ UDPゴシック" panose="020B0400000000000000" pitchFamily="50" charset="-128"/>
                <a:ea typeface="BIZ UDPゴシック" panose="020B0400000000000000" pitchFamily="50" charset="-128"/>
              </a:rPr>
              <a:t>①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トップ3で友だちや家族と</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②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本物のウイルス名と豆知識</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③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ゆめかわな見た目とキャラ</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④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無料・知ってる曲を1分以内で</a:t>
            </a:r>
          </a:p>
        </p:txBody>
      </p:sp>
      <p:sp>
        <p:nvSpPr>
          <p:cNvPr id="31" name="対応番号 ③"/>
          <p:cNvSpPr txBox="1"/>
          <p:nvPr/>
        </p:nvSpPr>
        <p:spPr>
          <a:xfrm>
            <a:off x="2635250" y="46994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③</a:t>
            </a:r>
          </a:p>
        </p:txBody>
      </p:sp>
      <p:sp>
        <p:nvSpPr>
          <p:cNvPr id="32" name="対応番号 ①"/>
          <p:cNvSpPr txBox="1"/>
          <p:nvPr/>
        </p:nvSpPr>
        <p:spPr>
          <a:xfrm>
            <a:off x="2635250" y="2576499"/>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①</a:t>
            </a:r>
          </a:p>
        </p:txBody>
      </p:sp>
      <p:sp>
        <p:nvSpPr>
          <p:cNvPr id="33" name="対応番号 ②"/>
          <p:cNvSpPr txBox="1"/>
          <p:nvPr/>
        </p:nvSpPr>
        <p:spPr>
          <a:xfrm>
            <a:off x="2635250" y="2880000"/>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②</a:t>
            </a:r>
          </a:p>
        </p:txBody>
      </p:sp>
      <p:sp>
        <p:nvSpPr>
          <p:cNvPr id="34" name="対応番号 ④"/>
          <p:cNvSpPr txBox="1"/>
          <p:nvPr/>
        </p:nvSpPr>
        <p:spPr>
          <a:xfrm>
            <a:off x="2635250" y="53852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④</a:t>
            </a:r>
          </a:p>
        </p:txBody>
      </p:sp>
      <p:pic>
        <p:nvPicPr>
          <p:cNvPr id="36" name="図 35">
            <a:extLst>
              <a:ext uri="{FF2B5EF4-FFF2-40B4-BE49-F238E27FC236}">
                <a16:creationId xmlns:a16="http://schemas.microsoft.com/office/drawing/2014/main" id="{3BFB8B55-9F32-42FD-A1D8-76C570023F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787863">
            <a:off x="7165749" y="4979208"/>
            <a:ext cx="965454" cy="945642"/>
          </a:xfrm>
          <a:prstGeom prst="rect">
            <a:avLst/>
          </a:prstGeom>
        </p:spPr>
      </p:pic>
      <p:pic>
        <p:nvPicPr>
          <p:cNvPr id="38" name="図 37">
            <a:extLst>
              <a:ext uri="{FF2B5EF4-FFF2-40B4-BE49-F238E27FC236}">
                <a16:creationId xmlns:a16="http://schemas.microsoft.com/office/drawing/2014/main" id="{BB95103B-A5E5-4C76-8E9A-74687BCC5A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663495">
            <a:off x="6404603" y="2783747"/>
            <a:ext cx="1217295" cy="1171575"/>
          </a:xfrm>
          <a:prstGeom prst="rect">
            <a:avLst/>
          </a:prstGeom>
        </p:spPr>
      </p:pic>
      <p:pic>
        <p:nvPicPr>
          <p:cNvPr id="40" name="図 39">
            <a:extLst>
              <a:ext uri="{FF2B5EF4-FFF2-40B4-BE49-F238E27FC236}">
                <a16:creationId xmlns:a16="http://schemas.microsoft.com/office/drawing/2014/main" id="{7581BA19-706F-4F41-8EEF-8D4956A17F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57238">
            <a:off x="11085381" y="4759533"/>
            <a:ext cx="1293495" cy="1103948"/>
          </a:xfrm>
          <a:prstGeom prst="rect">
            <a:avLst/>
          </a:prstGeom>
        </p:spPr>
      </p:pic>
      <p:sp>
        <p:nvSpPr>
          <p:cNvPr id="41" name="キャラ名 ぷにぷにランサムちゃん"/>
          <p:cNvSpPr/>
          <p:nvPr/>
        </p:nvSpPr>
        <p:spPr>
          <a:xfrm rot="416521">
            <a:off x="5871412" y="3902490"/>
            <a:ext cx="1650000" cy="228600"/>
          </a:xfrm>
          <a:prstGeom prst="roundRect">
            <a:avLst>
              <a:gd name="adj" fmla="val 50000"/>
            </a:avLst>
          </a:prstGeom>
          <a:solidFill>
            <a:srgbClr val="FFFFFF"/>
          </a:solidFill>
          <a:ln w="19050">
            <a:solidFill>
              <a:srgbClr val="E2368A"/>
            </a:solidFill>
          </a:ln>
        </p:spPr>
        <p:txBody>
          <a:bodyPr wrap="none" lIns="45720" tIns="0" rIns="45720" bIns="0" rtlCol="0" anchor="ctr">
            <a:noAutofit/>
          </a:bodyPr>
          <a:lstStyle/>
          <a:p>
            <a:pPr algn="ctr"/>
            <a:r>
              <a:rPr kumimoji="1" lang="ja-JP" altLang="en-US" sz="1000" b="1" dirty="0">
                <a:solidFill>
                  <a:srgbClr val="E2368A"/>
                </a:solidFill>
                <a:latin typeface="BIZ UDPゴシック" panose="020B0400000000000000" pitchFamily="50" charset="-128"/>
                <a:ea typeface="BIZ UDPゴシック" panose="020B0400000000000000" pitchFamily="50" charset="-128"/>
              </a:rPr>
              <a:t>ぷにぷにランサムちゃん</a:t>
            </a:r>
          </a:p>
        </p:txBody>
      </p:sp>
      <p:sp>
        <p:nvSpPr>
          <p:cNvPr id="42" name="キャラ名 てくてくフィッシング"/>
          <p:cNvSpPr/>
          <p:nvPr/>
        </p:nvSpPr>
        <p:spPr>
          <a:xfrm rot="21041270">
            <a:off x="10627303" y="5957340"/>
            <a:ext cx="1500000" cy="228600"/>
          </a:xfrm>
          <a:prstGeom prst="roundRect">
            <a:avLst>
              <a:gd name="adj" fmla="val 50000"/>
            </a:avLst>
          </a:prstGeom>
          <a:solidFill>
            <a:srgbClr val="FFFFFF"/>
          </a:solidFill>
          <a:ln w="19050">
            <a:solidFill>
              <a:srgbClr val="1F9C74"/>
            </a:solidFill>
          </a:ln>
        </p:spPr>
        <p:txBody>
          <a:bodyPr wrap="none" lIns="45720" tIns="0" rIns="45720" bIns="0" rtlCol="0" anchor="ctr">
            <a:noAutofit/>
          </a:bodyPr>
          <a:lstStyle/>
          <a:p>
            <a:pPr algn="ctr"/>
            <a:r>
              <a:rPr kumimoji="1" lang="ja-JP" altLang="en-US" sz="1000" b="1" dirty="0">
                <a:solidFill>
                  <a:srgbClr val="1F9C74"/>
                </a:solidFill>
                <a:latin typeface="BIZ UDPゴシック" panose="020B0400000000000000" pitchFamily="50" charset="-128"/>
                <a:ea typeface="BIZ UDPゴシック" panose="020B0400000000000000" pitchFamily="50" charset="-128"/>
              </a:rPr>
              <a:t>てくてくフィッシング</a:t>
            </a:r>
          </a:p>
        </p:txBody>
      </p:sp>
      <p:sp>
        <p:nvSpPr>
          <p:cNvPr id="43" name="キャラ名 パニックDDoS"/>
          <p:cNvSpPr/>
          <p:nvPr/>
        </p:nvSpPr>
        <p:spPr>
          <a:xfrm rot="698746">
            <a:off x="6941976" y="5951204"/>
            <a:ext cx="1150000" cy="228600"/>
          </a:xfrm>
          <a:prstGeom prst="roundRect">
            <a:avLst>
              <a:gd name="adj" fmla="val 50000"/>
            </a:avLst>
          </a:prstGeom>
          <a:solidFill>
            <a:srgbClr val="FFFFFF"/>
          </a:solidFill>
          <a:ln w="19050">
            <a:solidFill>
              <a:srgbClr val="D9A400"/>
            </a:solidFill>
          </a:ln>
        </p:spPr>
        <p:txBody>
          <a:bodyPr wrap="none" lIns="45720" tIns="0" rIns="45720" bIns="0" rtlCol="0" anchor="ctr">
            <a:noAutofit/>
          </a:bodyPr>
          <a:lstStyle/>
          <a:p>
            <a:pPr algn="ctr"/>
            <a:r>
              <a:rPr kumimoji="1" lang="ja-JP" altLang="en-US" sz="1000" b="1" dirty="0">
                <a:solidFill>
                  <a:srgbClr val="D9A400"/>
                </a:solidFill>
                <a:latin typeface="BIZ UDPゴシック" panose="020B0400000000000000" pitchFamily="50" charset="-128"/>
                <a:ea typeface="BIZ UDPゴシック" panose="020B0400000000000000" pitchFamily="50" charset="-128"/>
              </a:rPr>
              <a:t>パニックDDoS</a:t>
            </a:r>
          </a:p>
        </p:txBody>
      </p:sp>
    </p:spTree>
    <p:extLst>
      <p:ext uri="{BB962C8B-B14F-4D97-AF65-F5344CB8AC3E}">
        <p14:creationId xmlns:p14="http://schemas.microsoft.com/office/powerpoint/2010/main" val="315733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46033B6-99FC-4DDC-B6DF-3278666B37D2}"/>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コア機能・実機デモ</a:t>
            </a:r>
          </a:p>
        </p:txBody>
      </p:sp>
      <p:sp>
        <p:nvSpPr>
          <p:cNvPr id="5" name="楕円 4">
            <a:extLst>
              <a:ext uri="{FF2B5EF4-FFF2-40B4-BE49-F238E27FC236}">
                <a16:creationId xmlns:a16="http://schemas.microsoft.com/office/drawing/2014/main" id="{0087A983-FD1B-4B30-B84C-60FFAA29A166}"/>
              </a:ext>
            </a:extLst>
          </p:cNvPr>
          <p:cNvSpPr/>
          <p:nvPr/>
        </p:nvSpPr>
        <p:spPr>
          <a:xfrm>
            <a:off x="8543292" y="1371600"/>
            <a:ext cx="558800" cy="5588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1</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49AFF29E-8058-4E34-8C39-5F1C03503BEC}"/>
              </a:ext>
            </a:extLst>
          </p:cNvPr>
          <p:cNvSpPr txBox="1"/>
          <p:nvPr/>
        </p:nvSpPr>
        <p:spPr>
          <a:xfrm>
            <a:off x="9279892" y="1397000"/>
            <a:ext cx="2427511"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曲を選ぶ</a:t>
            </a:r>
          </a:p>
        </p:txBody>
      </p:sp>
      <p:sp>
        <p:nvSpPr>
          <p:cNvPr id="7" name="テキスト ボックス 6">
            <a:extLst>
              <a:ext uri="{FF2B5EF4-FFF2-40B4-BE49-F238E27FC236}">
                <a16:creationId xmlns:a16="http://schemas.microsoft.com/office/drawing/2014/main" id="{C632F578-58DB-4690-98C2-EA49F01302E1}"/>
              </a:ext>
            </a:extLst>
          </p:cNvPr>
          <p:cNvSpPr txBox="1"/>
          <p:nvPr/>
        </p:nvSpPr>
        <p:spPr>
          <a:xfrm>
            <a:off x="9279892" y="1778000"/>
            <a:ext cx="2558140" cy="369332"/>
          </a:xfrm>
          <a:prstGeom prst="rect">
            <a:avLst/>
          </a:prstGeom>
          <a:noFill/>
        </p:spPr>
        <p:txBody>
          <a:bodyPr vert="horz" wrap="square" lIns="0" tIns="0" rIns="0" bIns="0" rtlCol="0" anchor="t">
            <a:noAutofit/>
          </a:bodyPr>
          <a:lstStyle/>
          <a:p>
            <a:pPr>
              <a:spcAft>
                <a:spcPts val="400"/>
              </a:spcAft>
            </a:pPr>
            <a:r>
              <a:rPr kumimoji="1" lang="en-US" altLang="ja-JP" sz="1400">
                <a:solidFill>
                  <a:srgbClr val="B9A6F0"/>
                </a:solidFill>
                <a:latin typeface="BIZ UDPゴシック" panose="020B0400000000000000" pitchFamily="50" charset="-128"/>
                <a:ea typeface="BIZ UDPゴシック" panose="020B0400000000000000" pitchFamily="50" charset="-128"/>
              </a:rPr>
              <a:t>6</a:t>
            </a:r>
            <a:r>
              <a:rPr kumimoji="1" lang="ja-JP" altLang="en-US" sz="1400">
                <a:solidFill>
                  <a:srgbClr val="B9A6F0"/>
                </a:solidFill>
                <a:latin typeface="BIZ UDPゴシック" panose="020B0400000000000000" pitchFamily="50" charset="-128"/>
                <a:ea typeface="BIZ UDPゴシック" panose="020B0400000000000000" pitchFamily="50" charset="-128"/>
              </a:rPr>
              <a:t>曲・★</a:t>
            </a:r>
            <a:r>
              <a:rPr kumimoji="1" lang="en-US" altLang="ja-JP" sz="1400">
                <a:solidFill>
                  <a:srgbClr val="B9A6F0"/>
                </a:solidFill>
                <a:latin typeface="BIZ UDPゴシック" panose="020B0400000000000000" pitchFamily="50" charset="-128"/>
                <a:ea typeface="BIZ UDPゴシック" panose="020B0400000000000000" pitchFamily="50" charset="-128"/>
              </a:rPr>
              <a:t>1〜6</a:t>
            </a:r>
            <a:r>
              <a:rPr kumimoji="1" lang="ja-JP" altLang="en-US" sz="1400">
                <a:solidFill>
                  <a:srgbClr val="B9A6F0"/>
                </a:solidFill>
                <a:latin typeface="BIZ UDPゴシック" panose="020B0400000000000000" pitchFamily="50" charset="-128"/>
                <a:ea typeface="BIZ UDPゴシック" panose="020B0400000000000000" pitchFamily="50" charset="-128"/>
              </a:rPr>
              <a:t>。やさしい順に並ぶ</a:t>
            </a:r>
          </a:p>
        </p:txBody>
      </p:sp>
      <p:sp>
        <p:nvSpPr>
          <p:cNvPr id="8" name="楕円 7">
            <a:extLst>
              <a:ext uri="{FF2B5EF4-FFF2-40B4-BE49-F238E27FC236}">
                <a16:creationId xmlns:a16="http://schemas.microsoft.com/office/drawing/2014/main" id="{BD11CAC4-AE0F-45B5-A55F-3185ABB4045F}"/>
              </a:ext>
            </a:extLst>
          </p:cNvPr>
          <p:cNvSpPr/>
          <p:nvPr/>
        </p:nvSpPr>
        <p:spPr>
          <a:xfrm>
            <a:off x="8543292" y="2641600"/>
            <a:ext cx="558800" cy="5588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2</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2097299-5448-4884-A150-1A4279E61710}"/>
              </a:ext>
            </a:extLst>
          </p:cNvPr>
          <p:cNvSpPr txBox="1"/>
          <p:nvPr/>
        </p:nvSpPr>
        <p:spPr>
          <a:xfrm>
            <a:off x="9279892" y="2667000"/>
            <a:ext cx="26343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キーで叩く</a:t>
            </a:r>
          </a:p>
        </p:txBody>
      </p:sp>
      <p:sp>
        <p:nvSpPr>
          <p:cNvPr id="10" name="テキスト ボックス 9">
            <a:extLst>
              <a:ext uri="{FF2B5EF4-FFF2-40B4-BE49-F238E27FC236}">
                <a16:creationId xmlns:a16="http://schemas.microsoft.com/office/drawing/2014/main" id="{9C14F745-5B1F-48E8-94F6-C1CD6624BC6A}"/>
              </a:ext>
            </a:extLst>
          </p:cNvPr>
          <p:cNvSpPr txBox="1"/>
          <p:nvPr/>
        </p:nvSpPr>
        <p:spPr>
          <a:xfrm>
            <a:off x="9279892" y="304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叩くとメロディが鳴る</a:t>
            </a:r>
          </a:p>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ミスで画面がゆれる</a:t>
            </a:r>
          </a:p>
        </p:txBody>
      </p:sp>
      <p:sp>
        <p:nvSpPr>
          <p:cNvPr id="11" name="楕円 10">
            <a:extLst>
              <a:ext uri="{FF2B5EF4-FFF2-40B4-BE49-F238E27FC236}">
                <a16:creationId xmlns:a16="http://schemas.microsoft.com/office/drawing/2014/main" id="{414DF65D-01C8-48D2-8044-C9C1A0D18801}"/>
              </a:ext>
            </a:extLst>
          </p:cNvPr>
          <p:cNvSpPr/>
          <p:nvPr/>
        </p:nvSpPr>
        <p:spPr>
          <a:xfrm>
            <a:off x="8543292" y="3911600"/>
            <a:ext cx="558800" cy="5588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3</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0D63E976-4271-4BD9-ACC3-35B4DC49CCDE}"/>
              </a:ext>
            </a:extLst>
          </p:cNvPr>
          <p:cNvSpPr txBox="1"/>
          <p:nvPr/>
        </p:nvSpPr>
        <p:spPr>
          <a:xfrm>
            <a:off x="9279892" y="3937000"/>
            <a:ext cx="25581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ランクと本日のトップ</a:t>
            </a:r>
            <a:r>
              <a:rPr kumimoji="1" lang="en-US" altLang="ja-JP" b="1" dirty="0">
                <a:solidFill>
                  <a:srgbClr val="FFFFFF"/>
                </a:solidFill>
                <a:latin typeface="BIZ UDPゴシック" panose="020B0400000000000000" pitchFamily="50" charset="-128"/>
                <a:ea typeface="BIZ UDPゴシック" panose="020B0400000000000000" pitchFamily="50" charset="-128"/>
              </a:rPr>
              <a:t>3</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E0215B4-9BF3-4E72-A0C4-99C12E665A23}"/>
              </a:ext>
            </a:extLst>
          </p:cNvPr>
          <p:cNvSpPr txBox="1"/>
          <p:nvPr/>
        </p:nvSpPr>
        <p:spPr>
          <a:xfrm>
            <a:off x="9279892" y="431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名前を入れて、友だちと競える</a:t>
            </a:r>
          </a:p>
        </p:txBody>
      </p:sp>
      <p:pic>
        <p:nvPicPr>
          <p:cNvPr id="14" name="ゆめかわ_デモ動画">
            <a:hlinkClick r:id="" action="ppaction://media"/>
            <a:extLst>
              <a:ext uri="{FF2B5EF4-FFF2-40B4-BE49-F238E27FC236}">
                <a16:creationId xmlns:a16="http://schemas.microsoft.com/office/drawing/2014/main" id="{BD301A6E-2F01-46AE-91B6-3544F4C63F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33400" y="1104899"/>
            <a:ext cx="7632020" cy="4293011"/>
          </a:xfrm>
          <a:prstGeom prst="rect">
            <a:avLst/>
          </a:prstGeom>
        </p:spPr>
      </p:pic>
    </p:spTree>
    <p:extLst>
      <p:ext uri="{BB962C8B-B14F-4D97-AF65-F5344CB8AC3E}">
        <p14:creationId xmlns:p14="http://schemas.microsoft.com/office/powerpoint/2010/main" val="372337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319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EEFB"/>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44B1BF1-F608-4A76-B071-680BE0E23A9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en-US" altLang="ja-JP" sz="3000" b="1">
                <a:solidFill>
                  <a:srgbClr val="2B1F4A"/>
                </a:solidFill>
                <a:latin typeface="BIZ UDPゴシック" panose="020B0400000000000000" pitchFamily="50" charset="-128"/>
                <a:ea typeface="BIZ UDPゴシック" panose="020B0400000000000000" pitchFamily="50" charset="-128"/>
              </a:rPr>
              <a:t>AI</a:t>
            </a:r>
            <a:r>
              <a:rPr kumimoji="1" lang="ja-JP" altLang="en-US" sz="3000" b="1">
                <a:solidFill>
                  <a:srgbClr val="2B1F4A"/>
                </a:solidFill>
                <a:latin typeface="BIZ UDPゴシック" panose="020B0400000000000000" pitchFamily="50" charset="-128"/>
                <a:ea typeface="BIZ UDPゴシック" panose="020B0400000000000000" pitchFamily="50" charset="-128"/>
              </a:rPr>
              <a:t>活用の工夫</a:t>
            </a:r>
          </a:p>
        </p:txBody>
      </p:sp>
      <p:sp>
        <p:nvSpPr>
          <p:cNvPr id="4" name="四角形: 角を丸くする 3">
            <a:extLst>
              <a:ext uri="{FF2B5EF4-FFF2-40B4-BE49-F238E27FC236}">
                <a16:creationId xmlns:a16="http://schemas.microsoft.com/office/drawing/2014/main" id="{27BA2101-C1F9-4573-B5DE-214674385319}"/>
              </a:ext>
            </a:extLst>
          </p:cNvPr>
          <p:cNvSpPr/>
          <p:nvPr/>
        </p:nvSpPr>
        <p:spPr>
          <a:xfrm>
            <a:off x="6096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DFF88D5-D424-4EAE-96F1-F671A0BEB930}"/>
              </a:ext>
            </a:extLst>
          </p:cNvPr>
          <p:cNvSpPr/>
          <p:nvPr/>
        </p:nvSpPr>
        <p:spPr>
          <a:xfrm>
            <a:off x="838200" y="1524000"/>
            <a:ext cx="508000" cy="5080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1</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38A6A609-8EB8-4502-90DD-B7A939E10C0C}"/>
              </a:ext>
            </a:extLst>
          </p:cNvPr>
          <p:cNvSpPr txBox="1"/>
          <p:nvPr/>
        </p:nvSpPr>
        <p:spPr>
          <a:xfrm>
            <a:off x="1473200" y="1524000"/>
            <a:ext cx="2463800" cy="369332"/>
          </a:xfrm>
          <a:prstGeom prst="rect">
            <a:avLst/>
          </a:prstGeom>
          <a:noFill/>
        </p:spPr>
        <p:txBody>
          <a:bodyPr vert="horz" wrap="square" lIns="0" tIns="0" rIns="0" bIns="0" rtlCol="0" anchor="ctr">
            <a:noAutofit/>
          </a:bodyPr>
          <a:lstStyle/>
          <a:p>
            <a:pPr>
              <a:spcAft>
                <a:spcPts val="400"/>
              </a:spcAft>
            </a:pPr>
            <a:r>
              <a:rPr kumimoji="1" lang="en-US" altLang="ja-JP" sz="1600" b="1">
                <a:solidFill>
                  <a:srgbClr val="2B1F4A"/>
                </a:solidFill>
                <a:latin typeface="BIZ UDPゴシック" panose="020B0400000000000000" pitchFamily="50" charset="-128"/>
                <a:ea typeface="BIZ UDPゴシック" panose="020B0400000000000000" pitchFamily="50" charset="-128"/>
              </a:rPr>
              <a:t>AI</a:t>
            </a:r>
            <a:r>
              <a:rPr kumimoji="1" lang="ja-JP" altLang="en-US" sz="1600" b="1">
                <a:solidFill>
                  <a:srgbClr val="2B1F4A"/>
                </a:solidFill>
                <a:latin typeface="BIZ UDPゴシック" panose="020B0400000000000000" pitchFamily="50" charset="-128"/>
                <a:ea typeface="BIZ UDPゴシック" panose="020B0400000000000000" pitchFamily="50" charset="-128"/>
              </a:rPr>
              <a:t>の案は、人が選ぶ</a:t>
            </a:r>
          </a:p>
        </p:txBody>
      </p:sp>
      <p:sp>
        <p:nvSpPr>
          <p:cNvPr id="7" name="テキスト ボックス 6">
            <a:extLst>
              <a:ext uri="{FF2B5EF4-FFF2-40B4-BE49-F238E27FC236}">
                <a16:creationId xmlns:a16="http://schemas.microsoft.com/office/drawing/2014/main" id="{EF1C4E36-2EA7-44BC-B53F-C9B0B1FA1936}"/>
              </a:ext>
            </a:extLst>
          </p:cNvPr>
          <p:cNvSpPr txBox="1"/>
          <p:nvPr/>
        </p:nvSpPr>
        <p:spPr>
          <a:xfrm>
            <a:off x="8382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困ったこと</a:t>
            </a:r>
          </a:p>
        </p:txBody>
      </p:sp>
      <p:sp>
        <p:nvSpPr>
          <p:cNvPr id="8" name="テキスト ボックス 7">
            <a:extLst>
              <a:ext uri="{FF2B5EF4-FFF2-40B4-BE49-F238E27FC236}">
                <a16:creationId xmlns:a16="http://schemas.microsoft.com/office/drawing/2014/main" id="{DC51C3FB-EA19-4D53-AB6F-4499E14C8A13}"/>
              </a:ext>
            </a:extLst>
          </p:cNvPr>
          <p:cNvSpPr txBox="1"/>
          <p:nvPr/>
        </p:nvSpPr>
        <p:spPr>
          <a:xfrm>
            <a:off x="838200" y="2463800"/>
            <a:ext cx="3124200" cy="633968"/>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初級と上級の</a:t>
            </a:r>
            <a:r>
              <a:rPr kumimoji="1" lang="ja-JP" altLang="en-US" sz="1400" dirty="0">
                <a:solidFill>
                  <a:srgbClr val="2B1F4A"/>
                </a:solidFill>
                <a:latin typeface="BIZ UDPゴシック" panose="020B0400000000000000" pitchFamily="50" charset="-128"/>
                <a:ea typeface="BIZ UDPゴシック" panose="020B0400000000000000" pitchFamily="50" charset="-128"/>
              </a:rPr>
              <a:t>難易度の</a:t>
            </a:r>
            <a:r>
              <a:rPr kumimoji="1" lang="en-US" altLang="ja-JP" sz="1400" dirty="0" err="1">
                <a:solidFill>
                  <a:srgbClr val="2B1F4A"/>
                </a:solidFill>
                <a:latin typeface="BIZ UDPゴシック" panose="020B0400000000000000" pitchFamily="50" charset="-128"/>
                <a:ea typeface="BIZ UDPゴシック" panose="020B0400000000000000" pitchFamily="50" charset="-128"/>
              </a:rPr>
              <a:t>差が大きすぎた</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p>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r>
              <a:rPr kumimoji="1" lang="ja-JP" altLang="en-US" sz="1400" dirty="0">
                <a:solidFill>
                  <a:srgbClr val="2B1F4A"/>
                </a:solidFill>
                <a:latin typeface="BIZ UDPゴシック" panose="020B0400000000000000" pitchFamily="50" charset="-128"/>
                <a:ea typeface="BIZ UDPゴシック" panose="020B0400000000000000" pitchFamily="50" charset="-128"/>
              </a:rPr>
              <a:t>１</a:t>
            </a:r>
            <a:r>
              <a:rPr kumimoji="1" lang="en-US" altLang="ja-JP" sz="1400" dirty="0">
                <a:solidFill>
                  <a:srgbClr val="2B1F4A"/>
                </a:solidFill>
                <a:latin typeface="BIZ UDPゴシック" panose="020B0400000000000000" pitchFamily="50" charset="-128"/>
                <a:ea typeface="BIZ UDPゴシック" panose="020B0400000000000000" pitchFamily="50" charset="-128"/>
              </a:rPr>
              <a:t>曲を初級・上級の2つにアレンジする」案を出した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61D48C3-EA26-40DE-9575-1231CC6C0E01}"/>
              </a:ext>
            </a:extLst>
          </p:cNvPr>
          <p:cNvSpPr txBox="1"/>
          <p:nvPr/>
        </p:nvSpPr>
        <p:spPr>
          <a:xfrm>
            <a:off x="838200" y="3263900"/>
            <a:ext cx="3048000" cy="369332"/>
          </a:xfrm>
          <a:prstGeom prst="rect">
            <a:avLst/>
          </a:prstGeom>
          <a:noFill/>
        </p:spPr>
        <p:txBody>
          <a:bodyPr vert="horz" wrap="square" lIns="0" tIns="0" rIns="0" bIns="0" rtlCol="0" anchor="t">
            <a:noAutofit/>
          </a:bodyPr>
          <a:lstStyle/>
          <a:p>
            <a:r>
              <a:rPr kumimoji="1" lang="ja-JP" altLang="en-US" sz="1300" b="1">
                <a:solidFill>
                  <a:srgbClr val="E2368A"/>
                </a:solidFill>
                <a:latin typeface="BIZ UDPゴシック" panose="020B0400000000000000" pitchFamily="50" charset="-128"/>
                <a:ea typeface="BIZ UDPゴシック" panose="020B0400000000000000" pitchFamily="50" charset="-128"/>
              </a:rPr>
              <a:t>工夫</a:t>
            </a:r>
          </a:p>
        </p:txBody>
      </p:sp>
      <p:sp>
        <p:nvSpPr>
          <p:cNvPr id="10" name="テキスト ボックス 9">
            <a:extLst>
              <a:ext uri="{FF2B5EF4-FFF2-40B4-BE49-F238E27FC236}">
                <a16:creationId xmlns:a16="http://schemas.microsoft.com/office/drawing/2014/main" id="{E6240461-AF79-4366-99D1-72EACF05EEE7}"/>
              </a:ext>
            </a:extLst>
          </p:cNvPr>
          <p:cNvSpPr txBox="1"/>
          <p:nvPr/>
        </p:nvSpPr>
        <p:spPr>
          <a:xfrm>
            <a:off x="838200" y="3517900"/>
            <a:ext cx="3048000" cy="6741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来場者への分かりやすさを重視し、AIの案は採らず、曲そのものの難しさで分けた。</a:t>
            </a:r>
          </a:p>
        </p:txBody>
      </p:sp>
      <p:sp>
        <p:nvSpPr>
          <p:cNvPr id="11" name="四角形: 角を丸くする 10">
            <a:extLst>
              <a:ext uri="{FF2B5EF4-FFF2-40B4-BE49-F238E27FC236}">
                <a16:creationId xmlns:a16="http://schemas.microsoft.com/office/drawing/2014/main" id="{5DDE5D62-54C4-43C0-B5CA-0E43642BE9D4}"/>
              </a:ext>
            </a:extLst>
          </p:cNvPr>
          <p:cNvSpPr/>
          <p:nvPr/>
        </p:nvSpPr>
        <p:spPr>
          <a:xfrm>
            <a:off x="762000" y="5257800"/>
            <a:ext cx="3200400" cy="863600"/>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★1 きらきら星〜★6 天国と地獄の6曲。やさしい順に選べる。</a:t>
            </a:r>
          </a:p>
        </p:txBody>
      </p:sp>
      <p:sp>
        <p:nvSpPr>
          <p:cNvPr id="28" name="成果ラベル 28"/>
          <p:cNvSpPr txBox="1"/>
          <p:nvPr/>
        </p:nvSpPr>
        <p:spPr>
          <a:xfrm>
            <a:off x="8382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成果</a:t>
            </a:r>
          </a:p>
        </p:txBody>
      </p:sp>
      <p:sp>
        <p:nvSpPr>
          <p:cNvPr id="12" name="四角形: 角を丸くする 11">
            <a:extLst>
              <a:ext uri="{FF2B5EF4-FFF2-40B4-BE49-F238E27FC236}">
                <a16:creationId xmlns:a16="http://schemas.microsoft.com/office/drawing/2014/main" id="{F88BF92E-EE8D-4EAF-90AE-606E8B5AF4F5}"/>
              </a:ext>
            </a:extLst>
          </p:cNvPr>
          <p:cNvSpPr/>
          <p:nvPr/>
        </p:nvSpPr>
        <p:spPr>
          <a:xfrm>
            <a:off x="43434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2F5E1DFB-00B5-4ED7-A10A-9E8CFD2252D2}"/>
              </a:ext>
            </a:extLst>
          </p:cNvPr>
          <p:cNvSpPr/>
          <p:nvPr/>
        </p:nvSpPr>
        <p:spPr>
          <a:xfrm>
            <a:off x="4572000" y="1524000"/>
            <a:ext cx="508000" cy="5080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2</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3504817-3D0C-49DD-A0C2-A0151DD26BD2}"/>
              </a:ext>
            </a:extLst>
          </p:cNvPr>
          <p:cNvSpPr txBox="1"/>
          <p:nvPr/>
        </p:nvSpPr>
        <p:spPr>
          <a:xfrm>
            <a:off x="5207000" y="1524000"/>
            <a:ext cx="2463800" cy="369332"/>
          </a:xfrm>
          <a:prstGeom prst="rect">
            <a:avLst/>
          </a:prstGeom>
          <a:noFill/>
        </p:spPr>
        <p:txBody>
          <a:bodyPr vert="horz" wrap="square" lIns="0" tIns="0" rIns="0" bIns="0" rtlCol="0" anchor="ctr">
            <a:noAutofit/>
          </a:bodyPr>
          <a:lstStyle/>
          <a:p>
            <a:pPr>
              <a:spcAft>
                <a:spcPts val="400"/>
              </a:spcAft>
            </a:pPr>
            <a:r>
              <a:rPr kumimoji="1" lang="ja-JP" altLang="en-US" sz="1600" b="1">
                <a:solidFill>
                  <a:srgbClr val="2B1F4A"/>
                </a:solidFill>
                <a:latin typeface="BIZ UDPゴシック" panose="020B0400000000000000" pitchFamily="50" charset="-128"/>
                <a:ea typeface="BIZ UDPゴシック" panose="020B0400000000000000" pitchFamily="50" charset="-128"/>
              </a:rPr>
              <a:t>ルールを</a:t>
            </a:r>
            <a:r>
              <a:rPr kumimoji="1" lang="en-US" altLang="ja-JP" sz="1600" b="1">
                <a:solidFill>
                  <a:srgbClr val="2B1F4A"/>
                </a:solidFill>
                <a:latin typeface="BIZ UDPゴシック" panose="020B0400000000000000" pitchFamily="50" charset="-128"/>
                <a:ea typeface="BIZ UDPゴシック" panose="020B0400000000000000" pitchFamily="50" charset="-128"/>
              </a:rPr>
              <a:t>1</a:t>
            </a:r>
            <a:r>
              <a:rPr kumimoji="1" lang="ja-JP" altLang="en-US" sz="1600" b="1">
                <a:solidFill>
                  <a:srgbClr val="2B1F4A"/>
                </a:solidFill>
                <a:latin typeface="BIZ UDPゴシック" panose="020B0400000000000000" pitchFamily="50" charset="-128"/>
                <a:ea typeface="BIZ UDPゴシック" panose="020B0400000000000000" pitchFamily="50" charset="-128"/>
              </a:rPr>
              <a:t>つのファイルに</a:t>
            </a:r>
          </a:p>
        </p:txBody>
      </p:sp>
      <p:sp>
        <p:nvSpPr>
          <p:cNvPr id="15" name="テキスト ボックス 14">
            <a:extLst>
              <a:ext uri="{FF2B5EF4-FFF2-40B4-BE49-F238E27FC236}">
                <a16:creationId xmlns:a16="http://schemas.microsoft.com/office/drawing/2014/main" id="{B9FD1E7A-2242-4EF6-A941-DDFEEB53D2DB}"/>
              </a:ext>
            </a:extLst>
          </p:cNvPr>
          <p:cNvSpPr txBox="1"/>
          <p:nvPr/>
        </p:nvSpPr>
        <p:spPr>
          <a:xfrm>
            <a:off x="45720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困ったこと</a:t>
            </a:r>
          </a:p>
        </p:txBody>
      </p:sp>
      <p:sp>
        <p:nvSpPr>
          <p:cNvPr id="16" name="テキスト ボックス 15">
            <a:extLst>
              <a:ext uri="{FF2B5EF4-FFF2-40B4-BE49-F238E27FC236}">
                <a16:creationId xmlns:a16="http://schemas.microsoft.com/office/drawing/2014/main" id="{278BFE1B-026E-4DD9-BD15-452F24F6345D}"/>
              </a:ext>
            </a:extLst>
          </p:cNvPr>
          <p:cNvSpPr txBox="1"/>
          <p:nvPr/>
        </p:nvSpPr>
        <p:spPr>
          <a:xfrm>
            <a:off x="4572000" y="2463800"/>
            <a:ext cx="3048000" cy="4709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AIはファイルは読めても、班のルールは知らない。プロンプトの型も長かった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58314E62-610C-46F7-AC69-1F09A9AE53CB}"/>
              </a:ext>
            </a:extLst>
          </p:cNvPr>
          <p:cNvSpPr txBox="1"/>
          <p:nvPr/>
        </p:nvSpPr>
        <p:spPr>
          <a:xfrm>
            <a:off x="4572000" y="3263900"/>
            <a:ext cx="3048000" cy="369332"/>
          </a:xfrm>
          <a:prstGeom prst="rect">
            <a:avLst/>
          </a:prstGeom>
          <a:noFill/>
        </p:spPr>
        <p:txBody>
          <a:bodyPr vert="horz" wrap="square" lIns="0" tIns="0" rIns="0" bIns="0" rtlCol="0" anchor="t">
            <a:noAutofit/>
          </a:bodyPr>
          <a:lstStyle/>
          <a:p>
            <a:r>
              <a:rPr kumimoji="1" lang="ja-JP" altLang="en-US" sz="1300" b="1">
                <a:solidFill>
                  <a:srgbClr val="8A4FE0"/>
                </a:solidFill>
                <a:latin typeface="BIZ UDPゴシック" panose="020B0400000000000000" pitchFamily="50" charset="-128"/>
                <a:ea typeface="BIZ UDPゴシック" panose="020B0400000000000000" pitchFamily="50" charset="-128"/>
              </a:rPr>
              <a:t>工夫</a:t>
            </a:r>
          </a:p>
        </p:txBody>
      </p:sp>
      <p:sp>
        <p:nvSpPr>
          <p:cNvPr id="18" name="テキスト ボックス 17">
            <a:extLst>
              <a:ext uri="{FF2B5EF4-FFF2-40B4-BE49-F238E27FC236}">
                <a16:creationId xmlns:a16="http://schemas.microsoft.com/office/drawing/2014/main" id="{5AD25118-E244-4AAA-88D8-87B9BB608B18}"/>
              </a:ext>
            </a:extLst>
          </p:cNvPr>
          <p:cNvSpPr txBox="1"/>
          <p:nvPr/>
        </p:nvSpPr>
        <p:spPr>
          <a:xfrm>
            <a:off x="45720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ルール10か条を「AIへのお願い.md」にまとめ、毎回2行程度で頼んだ。</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「docs/AIへのお願い.md を読んでから、作業してください。仕様書 3.3 のとおり…（screens.js）」</a:t>
            </a:r>
          </a:p>
        </p:txBody>
      </p:sp>
      <p:sp>
        <p:nvSpPr>
          <p:cNvPr id="19" name="四角形: 角を丸くする 18">
            <a:extLst>
              <a:ext uri="{FF2B5EF4-FFF2-40B4-BE49-F238E27FC236}">
                <a16:creationId xmlns:a16="http://schemas.microsoft.com/office/drawing/2014/main" id="{E8F31E1E-CF5C-4E8D-B683-768FDE583F29}"/>
              </a:ext>
            </a:extLst>
          </p:cNvPr>
          <p:cNvSpPr/>
          <p:nvPr/>
        </p:nvSpPr>
        <p:spPr>
          <a:xfrm>
            <a:off x="4495800" y="5257800"/>
            <a:ext cx="3200400" cy="863600"/>
          </a:xfrm>
          <a:prstGeom prst="roundRect">
            <a:avLst>
              <a:gd name="adj" fmla="val 8000"/>
            </a:avLst>
          </a:prstGeom>
          <a:solidFill>
            <a:srgbClr val="ECE4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3人がそれぞれのAIで同じルール。担当外のファイルを書きかえられて困ったことはなかった。</a:t>
            </a:r>
          </a:p>
        </p:txBody>
      </p:sp>
      <p:sp>
        <p:nvSpPr>
          <p:cNvPr id="29" name="成果ラベル 29"/>
          <p:cNvSpPr txBox="1"/>
          <p:nvPr/>
        </p:nvSpPr>
        <p:spPr>
          <a:xfrm>
            <a:off x="45720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成果</a:t>
            </a:r>
          </a:p>
        </p:txBody>
      </p:sp>
      <p:sp>
        <p:nvSpPr>
          <p:cNvPr id="20" name="四角形: 角を丸くする 19">
            <a:extLst>
              <a:ext uri="{FF2B5EF4-FFF2-40B4-BE49-F238E27FC236}">
                <a16:creationId xmlns:a16="http://schemas.microsoft.com/office/drawing/2014/main" id="{8144B54B-05FE-4CE3-8E5D-C0A8A2C8C8F7}"/>
              </a:ext>
            </a:extLst>
          </p:cNvPr>
          <p:cNvSpPr/>
          <p:nvPr/>
        </p:nvSpPr>
        <p:spPr>
          <a:xfrm>
            <a:off x="80772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C2AAA889-DA01-424D-911B-3CF530A4B87C}"/>
              </a:ext>
            </a:extLst>
          </p:cNvPr>
          <p:cNvSpPr/>
          <p:nvPr/>
        </p:nvSpPr>
        <p:spPr>
          <a:xfrm>
            <a:off x="8305800" y="1524000"/>
            <a:ext cx="508000" cy="5080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3</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60CD2CD-CFDD-4CB6-A5FF-7D092CB17E80}"/>
              </a:ext>
            </a:extLst>
          </p:cNvPr>
          <p:cNvSpPr txBox="1"/>
          <p:nvPr/>
        </p:nvSpPr>
        <p:spPr>
          <a:xfrm>
            <a:off x="8940800" y="1524000"/>
            <a:ext cx="2463800" cy="369332"/>
          </a:xfrm>
          <a:prstGeom prst="rect">
            <a:avLst/>
          </a:prstGeom>
          <a:noFill/>
        </p:spPr>
        <p:txBody>
          <a:bodyPr vert="horz" wrap="square" lIns="0" tIns="0" rIns="0" bIns="0" rtlCol="0" anchor="ctr">
            <a:noAutofit/>
          </a:bodyPr>
          <a:lstStyle/>
          <a:p>
            <a:r>
              <a:rPr kumimoji="1" lang="ja-JP" altLang="en-US" sz="1600" b="1">
                <a:solidFill>
                  <a:srgbClr val="2B1F4A"/>
                </a:solidFill>
                <a:latin typeface="BIZ UDPゴシック" panose="020B0400000000000000" pitchFamily="50" charset="-128"/>
                <a:ea typeface="BIZ UDPゴシック" panose="020B0400000000000000" pitchFamily="50" charset="-128"/>
              </a:rPr>
              <a:t>AIの答えは、確かめる</a:t>
            </a:r>
          </a:p>
        </p:txBody>
      </p:sp>
      <p:sp>
        <p:nvSpPr>
          <p:cNvPr id="23" name="テキスト ボックス 22">
            <a:extLst>
              <a:ext uri="{FF2B5EF4-FFF2-40B4-BE49-F238E27FC236}">
                <a16:creationId xmlns:a16="http://schemas.microsoft.com/office/drawing/2014/main" id="{CBF88D13-702F-4CDB-89CB-22B21EB5324E}"/>
              </a:ext>
            </a:extLst>
          </p:cNvPr>
          <p:cNvSpPr txBox="1"/>
          <p:nvPr/>
        </p:nvSpPr>
        <p:spPr>
          <a:xfrm>
            <a:off x="83058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困ったこと</a:t>
            </a:r>
          </a:p>
        </p:txBody>
      </p:sp>
      <p:sp>
        <p:nvSpPr>
          <p:cNvPr id="24" name="テキスト ボックス 23">
            <a:extLst>
              <a:ext uri="{FF2B5EF4-FFF2-40B4-BE49-F238E27FC236}">
                <a16:creationId xmlns:a16="http://schemas.microsoft.com/office/drawing/2014/main" id="{58A2C99F-2A4C-46C9-902F-5326BA727578}"/>
              </a:ext>
            </a:extLst>
          </p:cNvPr>
          <p:cNvSpPr txBox="1"/>
          <p:nvPr/>
        </p:nvSpPr>
        <p:spPr>
          <a:xfrm>
            <a:off x="8305800" y="2463800"/>
            <a:ext cx="3048000" cy="3693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天国と地獄の最後を歌って伝えたら、AIが原曲にない作り話の曲を作った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80B41A0D-03EB-4F1A-B79D-AF3E67E593BB}"/>
              </a:ext>
            </a:extLst>
          </p:cNvPr>
          <p:cNvSpPr txBox="1"/>
          <p:nvPr/>
        </p:nvSpPr>
        <p:spPr>
          <a:xfrm>
            <a:off x="8305800" y="3263900"/>
            <a:ext cx="3048000" cy="369332"/>
          </a:xfrm>
          <a:prstGeom prst="rect">
            <a:avLst/>
          </a:prstGeom>
          <a:noFill/>
        </p:spPr>
        <p:txBody>
          <a:bodyPr vert="horz" wrap="square" lIns="0" tIns="0" rIns="0" bIns="0" rtlCol="0" anchor="t">
            <a:noAutofit/>
          </a:bodyPr>
          <a:lstStyle/>
          <a:p>
            <a:r>
              <a:rPr kumimoji="1" lang="ja-JP" altLang="en-US" sz="1300" b="1">
                <a:solidFill>
                  <a:srgbClr val="1F9C74"/>
                </a:solidFill>
                <a:latin typeface="BIZ UDPゴシック" panose="020B0400000000000000" pitchFamily="50" charset="-128"/>
                <a:ea typeface="BIZ UDPゴシック" panose="020B0400000000000000" pitchFamily="50" charset="-128"/>
              </a:rPr>
              <a:t>工夫</a:t>
            </a:r>
          </a:p>
        </p:txBody>
      </p:sp>
      <p:sp>
        <p:nvSpPr>
          <p:cNvPr id="26" name="テキスト ボックス 25">
            <a:extLst>
              <a:ext uri="{FF2B5EF4-FFF2-40B4-BE49-F238E27FC236}">
                <a16:creationId xmlns:a16="http://schemas.microsoft.com/office/drawing/2014/main" id="{953FA73B-793A-4692-BBD9-B5426F62F0E2}"/>
              </a:ext>
            </a:extLst>
          </p:cNvPr>
          <p:cNvSpPr txBox="1"/>
          <p:nvPr/>
        </p:nvSpPr>
        <p:spPr>
          <a:xfrm>
            <a:off x="83058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楽譜を探させ、最後は人の耳で確かめた。</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「大筋はいいと思うんだけど。やっぱり原曲でちゃんとしたのを探してきて聴いてそれを反映してほしい」</a:t>
            </a:r>
          </a:p>
        </p:txBody>
      </p:sp>
      <p:sp>
        <p:nvSpPr>
          <p:cNvPr id="27" name="四角形: 角を丸くする 26">
            <a:extLst>
              <a:ext uri="{FF2B5EF4-FFF2-40B4-BE49-F238E27FC236}">
                <a16:creationId xmlns:a16="http://schemas.microsoft.com/office/drawing/2014/main" id="{39C78553-80D2-4942-BCE3-B46BC9005203}"/>
              </a:ext>
            </a:extLst>
          </p:cNvPr>
          <p:cNvSpPr/>
          <p:nvPr/>
        </p:nvSpPr>
        <p:spPr>
          <a:xfrm>
            <a:off x="8229600" y="5257800"/>
            <a:ext cx="3200400" cy="863600"/>
          </a:xfrm>
          <a:prstGeom prst="roundRect">
            <a:avLst>
              <a:gd name="adj" fmla="val 8000"/>
            </a:avLst>
          </a:prstGeom>
          <a:solidFill>
            <a:srgbClr val="DDF3E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「7小節目のレはいらない」と具体的に伝えて1回で直った。2人から「これでOK」</a:t>
            </a:r>
          </a:p>
        </p:txBody>
      </p:sp>
      <p:sp>
        <p:nvSpPr>
          <p:cNvPr id="30" name="成果ラベル 30"/>
          <p:cNvSpPr txBox="1"/>
          <p:nvPr/>
        </p:nvSpPr>
        <p:spPr>
          <a:xfrm>
            <a:off x="83058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成果</a:t>
            </a:r>
          </a:p>
        </p:txBody>
      </p:sp>
    </p:spTree>
    <p:extLst>
      <p:ext uri="{BB962C8B-B14F-4D97-AF65-F5344CB8AC3E}">
        <p14:creationId xmlns:p14="http://schemas.microsoft.com/office/powerpoint/2010/main" val="1946920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81D7FE7-2CC4-4102-83FF-BA828B87878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チーム開発の振り返り</a:t>
            </a:r>
          </a:p>
        </p:txBody>
      </p:sp>
      <p:sp>
        <p:nvSpPr>
          <p:cNvPr id="3" name="四角形: 角を丸くする 2">
            <a:extLst>
              <a:ext uri="{FF2B5EF4-FFF2-40B4-BE49-F238E27FC236}">
                <a16:creationId xmlns:a16="http://schemas.microsoft.com/office/drawing/2014/main" id="{D1664B02-BBD3-44CC-8ACF-48BE9E52B106}"/>
              </a:ext>
            </a:extLst>
          </p:cNvPr>
          <p:cNvSpPr/>
          <p:nvPr/>
        </p:nvSpPr>
        <p:spPr>
          <a:xfrm>
            <a:off x="609600" y="1219200"/>
            <a:ext cx="10972800" cy="51308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49E7E11-DE3B-42D1-ACD8-FBBC0E2B2EA0}"/>
              </a:ext>
            </a:extLst>
          </p:cNvPr>
          <p:cNvSpPr txBox="1"/>
          <p:nvPr/>
        </p:nvSpPr>
        <p:spPr>
          <a:xfrm>
            <a:off x="965200" y="1524000"/>
            <a:ext cx="6400800" cy="369332"/>
          </a:xfrm>
          <a:prstGeom prst="rect">
            <a:avLst/>
          </a:prstGeom>
          <a:noFill/>
        </p:spPr>
        <p:txBody>
          <a:bodyPr vert="horz" wrap="square" lIns="0" tIns="0" rIns="0" bIns="0" rtlCol="0" anchor="t">
            <a:noAutofit/>
          </a:bodyPr>
          <a:lstStyle/>
          <a:p>
            <a:r>
              <a:rPr kumimoji="1" lang="ja-JP" altLang="en-US" sz="2000" b="1">
                <a:solidFill>
                  <a:srgbClr val="E2368A"/>
                </a:solidFill>
                <a:latin typeface="BIZ UDPゴシック" panose="020B0400000000000000" pitchFamily="50" charset="-128"/>
                <a:ea typeface="BIZ UDPゴシック" panose="020B0400000000000000" pitchFamily="50" charset="-128"/>
              </a:rPr>
              <a:t>チームの学び</a:t>
            </a:r>
          </a:p>
        </p:txBody>
      </p:sp>
      <p:sp>
        <p:nvSpPr>
          <p:cNvPr id="5" name="学び ①"/>
          <p:cNvSpPr txBox="1"/>
          <p:nvPr/>
        </p:nvSpPr>
        <p:spPr>
          <a:xfrm>
            <a:off x="790220" y="2122312"/>
            <a:ext cx="3366911"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E2368A"/>
                </a:solidFill>
                <a:latin typeface="BIZ UDPゴシック" panose="020B0400000000000000" pitchFamily="50" charset="-128"/>
                <a:ea typeface="BIZ UDPゴシック" panose="020B0400000000000000" pitchFamily="50" charset="-128"/>
              </a:rPr>
              <a:t>① 3人で作ったから、1人で作る</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E2368A"/>
                </a:solidFill>
                <a:latin typeface="BIZ UDPゴシック" panose="020B0400000000000000" pitchFamily="50" charset="-128"/>
                <a:ea typeface="BIZ UDPゴシック" panose="020B0400000000000000" pitchFamily="50" charset="-128"/>
              </a:rPr>
              <a:t>　　</a:t>
            </a:r>
            <a:r>
              <a:rPr kumimoji="1" lang="ja-JP" altLang="en-US" sz="1800" b="1" dirty="0">
                <a:solidFill>
                  <a:srgbClr val="E2368A"/>
                </a:solidFill>
                <a:latin typeface="BIZ UDPゴシック" panose="020B0400000000000000" pitchFamily="50" charset="-128"/>
                <a:ea typeface="BIZ UDPゴシック" panose="020B0400000000000000" pitchFamily="50" charset="-128"/>
              </a:rPr>
              <a:t>よりも良いものになった</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E2368A"/>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最初は「1人がAIと作った方が速くて良いものができる」と思っていた。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分担すると、関数の名前などのつなぎ目の部分を仕様書で決めたり、マージの順番を考えたりと手間は増えた。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でも、見た目・プレイ画面・認定証をそれぞれ得意な人が作り、お互いの成果に刺激を受けて、1人で作るよりも、製品らしい良いアプリになった。</a:t>
            </a:r>
          </a:p>
        </p:txBody>
      </p:sp>
      <p:sp>
        <p:nvSpPr>
          <p:cNvPr id="6" name="学び ②"/>
          <p:cNvSpPr txBox="1"/>
          <p:nvPr/>
        </p:nvSpPr>
        <p:spPr>
          <a:xfrm>
            <a:off x="4347632" y="2122312"/>
            <a:ext cx="3467101" cy="38100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8A4FE0"/>
                </a:solidFill>
                <a:latin typeface="BIZ UDPゴシック" panose="020B0400000000000000" pitchFamily="50" charset="-128"/>
                <a:ea typeface="BIZ UDPゴシック" panose="020B0400000000000000" pitchFamily="50" charset="-128"/>
              </a:rPr>
              <a:t>② 人の感覚で決めることは、</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8A4FE0"/>
                </a:solidFill>
                <a:latin typeface="BIZ UDPゴシック" panose="020B0400000000000000" pitchFamily="50" charset="-128"/>
                <a:ea typeface="BIZ UDPゴシック" panose="020B0400000000000000" pitchFamily="50" charset="-128"/>
              </a:rPr>
              <a:t>　　</a:t>
            </a:r>
            <a:r>
              <a:rPr kumimoji="1" lang="ja-JP" altLang="en-US" sz="1800" b="1" dirty="0">
                <a:solidFill>
                  <a:srgbClr val="8A4FE0"/>
                </a:solidFill>
                <a:latin typeface="BIZ UDPゴシック" panose="020B0400000000000000" pitchFamily="50" charset="-128"/>
                <a:ea typeface="BIZ UDPゴシック" panose="020B0400000000000000" pitchFamily="50" charset="-128"/>
              </a:rPr>
              <a:t>人が確かめる</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8A4FE0"/>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曲が気持ちいいか、難易度がちょうどいいかは、AIには判断できなかった。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遊んでみると、難易度★5のエンターテイナーが★6以上になっていた。数字だけでは分からず、遊んで初めて分かった。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ドレミ等文字で曲を打ち込んだりしてもAIは原曲に近い曲を作れなかったが、「7小節目のレはいらない」のように言葉にすると、AIが直せた。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AIの作成・修正は、必ずアプリの動きを確かめてからコミットした。</a:t>
            </a:r>
          </a:p>
        </p:txBody>
      </p:sp>
      <p:sp>
        <p:nvSpPr>
          <p:cNvPr id="7" name="学び ③"/>
          <p:cNvSpPr txBox="1"/>
          <p:nvPr/>
        </p:nvSpPr>
        <p:spPr>
          <a:xfrm>
            <a:off x="7972777" y="2122312"/>
            <a:ext cx="3468512"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1F9C74"/>
                </a:solidFill>
                <a:latin typeface="BIZ UDPゴシック" panose="020B0400000000000000" pitchFamily="50" charset="-128"/>
                <a:ea typeface="BIZ UDPゴシック" panose="020B0400000000000000" pitchFamily="50" charset="-128"/>
              </a:rPr>
              <a:t>③ 次回の課題は、</a:t>
            </a:r>
            <a:endParaRPr kumimoji="1" lang="en-US" altLang="ja-JP" sz="1800" b="1" dirty="0">
              <a:solidFill>
                <a:srgbClr val="1F9C74"/>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1F9C74"/>
                </a:solidFill>
                <a:latin typeface="BIZ UDPゴシック" panose="020B0400000000000000" pitchFamily="50" charset="-128"/>
                <a:ea typeface="BIZ UDPゴシック" panose="020B0400000000000000" pitchFamily="50" charset="-128"/>
              </a:rPr>
              <a:t>　　</a:t>
            </a:r>
            <a:r>
              <a:rPr kumimoji="1" lang="ja-JP" altLang="en-US" sz="1800" b="1" dirty="0">
                <a:solidFill>
                  <a:srgbClr val="1F9C74"/>
                </a:solidFill>
                <a:latin typeface="BIZ UDPゴシック" panose="020B0400000000000000" pitchFamily="50" charset="-128"/>
                <a:ea typeface="BIZ UDPゴシック" panose="020B0400000000000000" pitchFamily="50" charset="-128"/>
              </a:rPr>
              <a:t>コードを読む力をつける</a:t>
            </a:r>
            <a:endParaRPr kumimoji="1" lang="en-US" altLang="ja-JP" sz="1800" b="1" dirty="0">
              <a:solidFill>
                <a:srgbClr val="1F9C74"/>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1F9C74"/>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技術が分からないと、AIに適切に直してもらうこと</a:t>
            </a:r>
            <a:r>
              <a:rPr lang="ja-JP" altLang="en-US" sz="1400" dirty="0">
                <a:solidFill>
                  <a:srgbClr val="2B1F4A"/>
                </a:solidFill>
                <a:latin typeface="BIZ UDPゴシック" panose="020B0400000000000000" pitchFamily="50" charset="-128"/>
                <a:ea typeface="BIZ UDPゴシック" panose="020B0400000000000000" pitchFamily="50" charset="-128"/>
              </a:rPr>
              <a:t>は難しい</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今回は、資料やコメントで全体を理解し、audio.js を読んで「3曲とも伴奏が同じ」と不具合に気づけたこともあった。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でも、多くは遊んで・聞いて・比べて確かめていて、原因をコードで見つけて直すところまではできなかった。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JavaScriptの授業で習ったことを自分のものにして、次はコードをもっと読めるようになりたい。</a:t>
            </a:r>
          </a:p>
        </p:txBody>
      </p:sp>
      <p:cxnSp>
        <p:nvCxnSpPr>
          <p:cNvPr id="8" name="区切り 1"/>
          <p:cNvCxnSpPr/>
          <p:nvPr/>
        </p:nvCxnSpPr>
        <p:spPr>
          <a:xfrm>
            <a:off x="4212165" y="2122312"/>
            <a:ext cx="0" cy="3810000"/>
          </a:xfrm>
          <a:prstGeom prst="line">
            <a:avLst/>
          </a:prstGeom>
          <a:ln w="12700">
            <a:solidFill>
              <a:srgbClr val="E3D9F5"/>
            </a:solidFill>
          </a:ln>
        </p:spPr>
      </p:cxnSp>
      <p:cxnSp>
        <p:nvCxnSpPr>
          <p:cNvPr id="9" name="区切り 2"/>
          <p:cNvCxnSpPr/>
          <p:nvPr/>
        </p:nvCxnSpPr>
        <p:spPr>
          <a:xfrm>
            <a:off x="7850010" y="2122312"/>
            <a:ext cx="0" cy="3810000"/>
          </a:xfrm>
          <a:prstGeom prst="line">
            <a:avLst/>
          </a:prstGeom>
          <a:ln w="12700">
            <a:solidFill>
              <a:srgbClr val="E3D9F5"/>
            </a:solidFill>
          </a:ln>
        </p:spPr>
      </p:cxnSp>
    </p:spTree>
    <p:extLst>
      <p:ext uri="{BB962C8B-B14F-4D97-AF65-F5344CB8AC3E}">
        <p14:creationId xmlns:p14="http://schemas.microsoft.com/office/powerpoint/2010/main" val="30523082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417</TotalTime>
  <Words>1617</Words>
  <Application>Microsoft Office PowerPoint</Application>
  <PresentationFormat>ワイド画面</PresentationFormat>
  <Paragraphs>133</Paragraphs>
  <Slides>5</Slides>
  <Notes>5</Notes>
  <HiddenSlides>0</HiddenSlides>
  <MMClips>1</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BIZ UDPゴシック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純子 中山</dc:creator>
  <cp:lastModifiedBy>有紀 松井</cp:lastModifiedBy>
  <cp:revision>34</cp:revision>
  <dcterms:created xsi:type="dcterms:W3CDTF">2026-10-23T07:35:14Z</dcterms:created>
  <dcterms:modified xsi:type="dcterms:W3CDTF">2026-10-26T02:55:33Z</dcterms:modified>
</cp:coreProperties>
</file>