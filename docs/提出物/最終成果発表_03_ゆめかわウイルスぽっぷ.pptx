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960" autoAdjust="0"/>
  </p:normalViewPr>
  <p:slideViewPr>
    <p:cSldViewPr snapToGrid="0">
      <p:cViewPr varScale="1">
        <p:scale>
          <a:sx n="70" d="100"/>
          <a:sy n="70" d="100"/>
        </p:scale>
        <p:origin x="11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4371A-D5F7-44C1-80F8-FA25F33E882E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B7477-CFFE-48FE-8362-1D7FF90CA9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2728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</a:t>
            </a:r>
            <a:r>
              <a:rPr kumimoji="1" lang="ja-JP" altLang="en-US"/>
              <a:t>スライド</a:t>
            </a:r>
            <a:r>
              <a:rPr kumimoji="1" lang="en-US" altLang="ja-JP"/>
              <a:t>1</a:t>
            </a:r>
            <a:r>
              <a:rPr kumimoji="1" lang="ja-JP" altLang="en-US"/>
              <a:t>・</a:t>
            </a:r>
            <a:r>
              <a:rPr kumimoji="1" lang="en-US" altLang="ja-JP"/>
              <a:t>30</a:t>
            </a:r>
            <a:r>
              <a:rPr kumimoji="1" lang="ja-JP" altLang="en-US"/>
              <a:t>秒</a:t>
            </a:r>
            <a:r>
              <a:rPr kumimoji="1" lang="en-US" altLang="ja-JP"/>
              <a:t>】</a:t>
            </a:r>
            <a:r>
              <a:rPr kumimoji="1" lang="ja-JP" altLang="en-US"/>
              <a:t>話す人：松井さん（班長）</a:t>
            </a:r>
          </a:p>
          <a:p>
            <a:r>
              <a:rPr kumimoji="1" lang="ja-JP" altLang="en-US"/>
              <a:t>・チーム名と</a:t>
            </a:r>
            <a:r>
              <a:rPr kumimoji="1" lang="en-US" altLang="ja-JP"/>
              <a:t>3</a:t>
            </a:r>
            <a:r>
              <a:rPr kumimoji="1" lang="ja-JP" altLang="en-US"/>
              <a:t>人の担当を紹介する</a:t>
            </a:r>
          </a:p>
          <a:p>
            <a:r>
              <a:rPr kumimoji="1" lang="ja-JP" altLang="en-US"/>
              <a:t>・「今日はアプリの説明ではなく、</a:t>
            </a:r>
            <a:r>
              <a:rPr kumimoji="1" lang="en-US" altLang="ja-JP"/>
              <a:t>AI</a:t>
            </a:r>
            <a:r>
              <a:rPr kumimoji="1" lang="ja-JP" altLang="en-US"/>
              <a:t>をどう使って作ったかを話します」と最初に言う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B7477-CFFE-48FE-8362-1D7FF90CA97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6251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</a:t>
            </a:r>
            <a:r>
              <a:rPr kumimoji="1" lang="ja-JP" altLang="en-US"/>
              <a:t>スライド</a:t>
            </a:r>
            <a:r>
              <a:rPr kumimoji="1" lang="en-US" altLang="ja-JP"/>
              <a:t>2</a:t>
            </a:r>
            <a:r>
              <a:rPr kumimoji="1" lang="ja-JP" altLang="en-US"/>
              <a:t>・</a:t>
            </a:r>
            <a:r>
              <a:rPr kumimoji="1" lang="en-US" altLang="ja-JP"/>
              <a:t>1</a:t>
            </a:r>
            <a:r>
              <a:rPr kumimoji="1" lang="ja-JP" altLang="en-US"/>
              <a:t>分</a:t>
            </a:r>
            <a:r>
              <a:rPr kumimoji="1" lang="en-US" altLang="ja-JP"/>
              <a:t>】</a:t>
            </a:r>
            <a:r>
              <a:rPr kumimoji="1" lang="ja-JP" altLang="en-US"/>
              <a:t>話す人：岡野さん</a:t>
            </a:r>
          </a:p>
          <a:p>
            <a:r>
              <a:rPr kumimoji="1" lang="ja-JP" altLang="en-US"/>
              <a:t>・ペルソナ（松田みゆさん）を紹介する：都立高校</a:t>
            </a:r>
            <a:r>
              <a:rPr kumimoji="1" lang="en-US" altLang="ja-JP"/>
              <a:t>2</a:t>
            </a:r>
            <a:r>
              <a:rPr kumimoji="1" lang="ja-JP" altLang="en-US"/>
              <a:t>年、かわいいものとメイクが好き、家族が</a:t>
            </a:r>
            <a:r>
              <a:rPr kumimoji="1" lang="en-US" altLang="ja-JP"/>
              <a:t>IT</a:t>
            </a:r>
            <a:r>
              <a:rPr kumimoji="1" lang="ja-JP" altLang="en-US"/>
              <a:t>系で自分も</a:t>
            </a:r>
            <a:r>
              <a:rPr kumimoji="1" lang="en-US" altLang="ja-JP"/>
              <a:t>IT</a:t>
            </a:r>
            <a:r>
              <a:rPr kumimoji="1" lang="ja-JP" altLang="en-US"/>
              <a:t>に興味がある</a:t>
            </a:r>
          </a:p>
          <a:p>
            <a:r>
              <a:rPr kumimoji="1" lang="ja-JP" altLang="en-US"/>
              <a:t>・悩みは「楽しいイベントに行きたいけれど、お金がない」→ 課題は「お金を使わずに、学園祭で楽しく遊びたい」</a:t>
            </a:r>
          </a:p>
          <a:p>
            <a:r>
              <a:rPr kumimoji="1" lang="ja-JP" altLang="en-US"/>
              <a:t>・「そこで作ったのが、ゆめかわ★ウイルス・ぽっぷです」と言って、次のデモへつなぐ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B7477-CFFE-48FE-8362-1D7FF90CA97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726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</a:t>
            </a:r>
            <a:r>
              <a:rPr kumimoji="1" lang="ja-JP" altLang="en-US"/>
              <a:t>スライド</a:t>
            </a:r>
            <a:r>
              <a:rPr kumimoji="1" lang="en-US" altLang="ja-JP"/>
              <a:t>3</a:t>
            </a:r>
            <a:r>
              <a:rPr kumimoji="1" lang="ja-JP" altLang="en-US"/>
              <a:t>・</a:t>
            </a:r>
            <a:r>
              <a:rPr kumimoji="1" lang="en-US" altLang="ja-JP"/>
              <a:t>1</a:t>
            </a:r>
            <a:r>
              <a:rPr kumimoji="1" lang="ja-JP" altLang="en-US"/>
              <a:t>分</a:t>
            </a:r>
            <a:r>
              <a:rPr kumimoji="1" lang="en-US" altLang="ja-JP"/>
              <a:t>30</a:t>
            </a:r>
            <a:r>
              <a:rPr kumimoji="1" lang="ja-JP" altLang="en-US"/>
              <a:t>秒</a:t>
            </a:r>
            <a:r>
              <a:rPr kumimoji="1" lang="en-US" altLang="ja-JP"/>
              <a:t>】</a:t>
            </a:r>
            <a:r>
              <a:rPr kumimoji="1" lang="ja-JP" altLang="en-US"/>
              <a:t>話す人：松井さん（操作も）</a:t>
            </a:r>
          </a:p>
          <a:p>
            <a:r>
              <a:rPr kumimoji="1" lang="ja-JP" altLang="en-US"/>
              <a:t>・中身のくわしい説明はしない（先生：デモはカンタンに）</a:t>
            </a:r>
          </a:p>
          <a:p>
            <a:r>
              <a:rPr kumimoji="1" lang="ja-JP" altLang="en-US"/>
              <a:t>・見せるのは</a:t>
            </a:r>
            <a:r>
              <a:rPr kumimoji="1" lang="en-US" altLang="ja-JP"/>
              <a:t>3</a:t>
            </a:r>
            <a:r>
              <a:rPr kumimoji="1" lang="ja-JP" altLang="en-US"/>
              <a:t>つだけ：曲を選ぶ → 叩く → リザルト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B7477-CFFE-48FE-8362-1D7FF90CA97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242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【</a:t>
            </a:r>
            <a:r>
              <a:rPr kumimoji="1" lang="ja-JP" altLang="en-US" dirty="0"/>
              <a:t>スライド</a:t>
            </a:r>
            <a:r>
              <a:rPr kumimoji="1" lang="en-US" altLang="ja-JP" dirty="0"/>
              <a:t>4</a:t>
            </a:r>
            <a:r>
              <a:rPr kumimoji="1" lang="ja-JP" altLang="en-US" dirty="0"/>
              <a:t>・</a:t>
            </a:r>
            <a:r>
              <a:rPr kumimoji="1" lang="en-US" altLang="ja-JP" dirty="0"/>
              <a:t>3</a:t>
            </a:r>
            <a:r>
              <a:rPr kumimoji="1" lang="ja-JP" altLang="en-US" dirty="0"/>
              <a:t>分</a:t>
            </a:r>
            <a:r>
              <a:rPr kumimoji="1" lang="en-US" altLang="ja-JP" dirty="0"/>
              <a:t>】</a:t>
            </a:r>
            <a:r>
              <a:rPr kumimoji="1" lang="ja-JP" altLang="en-US" dirty="0"/>
              <a:t>話す人の案：</a:t>
            </a:r>
            <a:r>
              <a:rPr kumimoji="1" lang="en-US" altLang="ja-JP" dirty="0"/>
              <a:t>1</a:t>
            </a:r>
            <a:r>
              <a:rPr kumimoji="1" lang="ja-JP" altLang="en-US" dirty="0"/>
              <a:t>＝松井さん、</a:t>
            </a:r>
            <a:r>
              <a:rPr kumimoji="1" lang="en-US" altLang="ja-JP" dirty="0"/>
              <a:t>2</a:t>
            </a:r>
            <a:r>
              <a:rPr kumimoji="1" lang="ja-JP" altLang="en-US" dirty="0"/>
              <a:t>＝中山、</a:t>
            </a:r>
            <a:r>
              <a:rPr kumimoji="1" lang="en-US" altLang="ja-JP" dirty="0"/>
              <a:t>3</a:t>
            </a:r>
            <a:r>
              <a:rPr kumimoji="1" lang="ja-JP" altLang="en-US" dirty="0"/>
              <a:t>＝岡野さん（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人</a:t>
            </a:r>
            <a:r>
              <a:rPr kumimoji="1" lang="en-US" altLang="ja-JP" dirty="0"/>
              <a:t>1</a:t>
            </a:r>
            <a:r>
              <a:rPr kumimoji="1" lang="ja-JP" altLang="en-US" dirty="0"/>
              <a:t>分くらい）。先生が見たいのは「プロセスと苦労」</a:t>
            </a:r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1</a:t>
            </a:r>
            <a:r>
              <a:rPr kumimoji="1" lang="ja-JP" altLang="en-US" dirty="0"/>
              <a:t>：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は </a:t>
            </a:r>
            <a:r>
              <a:rPr kumimoji="1" lang="en-US" altLang="ja-JP" dirty="0"/>
              <a:t>Canvas </a:t>
            </a:r>
            <a:r>
              <a:rPr kumimoji="1" lang="ja-JP" altLang="en-US" dirty="0"/>
              <a:t>をすすめたが、自分たちが説明できる </a:t>
            </a:r>
            <a:r>
              <a:rPr kumimoji="1" lang="en-US" altLang="ja-JP" dirty="0"/>
              <a:t>DOM</a:t>
            </a:r>
            <a:r>
              <a:rPr kumimoji="1" lang="ja-JP" altLang="en-US" dirty="0"/>
              <a:t>＋</a:t>
            </a:r>
            <a:r>
              <a:rPr kumimoji="1" lang="en-US" altLang="ja-JP" dirty="0"/>
              <a:t>CSS </a:t>
            </a:r>
            <a:r>
              <a:rPr kumimoji="1" lang="ja-JP" altLang="en-US" dirty="0"/>
              <a:t>を選んだ。習っていない書き方は、</a:t>
            </a:r>
            <a:r>
              <a:rPr kumimoji="1" lang="en-US" altLang="ja-JP" dirty="0" err="1"/>
              <a:t>forEach</a:t>
            </a:r>
            <a:r>
              <a:rPr kumimoji="1" lang="ja-JP" altLang="en-US" dirty="0"/>
              <a:t>・</a:t>
            </a:r>
            <a:r>
              <a:rPr kumimoji="1" lang="en-US" altLang="ja-JP" dirty="0"/>
              <a:t>if</a:t>
            </a:r>
            <a:r>
              <a:rPr kumimoji="1" lang="ja-JP" altLang="en-US" dirty="0"/>
              <a:t>・</a:t>
            </a:r>
            <a:r>
              <a:rPr kumimoji="1" lang="en-US" altLang="ja-JP" dirty="0"/>
              <a:t>class </a:t>
            </a:r>
            <a:r>
              <a:rPr kumimoji="1" lang="ja-JP" altLang="en-US" dirty="0"/>
              <a:t>などの習った書き方に直させた。難易度の分け方・タイトル画面の絵・スタートの方法も、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のおすすめと違う方を、遊ぶ人に合うかで選んだ</a:t>
            </a:r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2</a:t>
            </a:r>
            <a:r>
              <a:rPr kumimoji="1" lang="ja-JP" altLang="en-US" dirty="0"/>
              <a:t>：</a:t>
            </a:r>
            <a:r>
              <a:rPr kumimoji="1" lang="en-US" altLang="ja-JP" dirty="0"/>
              <a:t>10</a:t>
            </a:r>
            <a:r>
              <a:rPr kumimoji="1" lang="ja-JP" altLang="en-US" dirty="0"/>
              <a:t>か条の例＝仕様書どおり（数値・関数名を変えない）／頼まれたファイルだけ直す／同じ名前を使わない／コメントは「</a:t>
            </a:r>
            <a:r>
              <a:rPr kumimoji="1" lang="en-US" altLang="ja-JP" dirty="0"/>
              <a:t>// ★</a:t>
            </a:r>
            <a:r>
              <a:rPr kumimoji="1" lang="ja-JP" altLang="en-US" dirty="0"/>
              <a:t>」で中学生にも分かる言葉／迷ったら勝手に決めず報告。プロンプトは「仕様書の章＋直すファイル」の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行、</a:t>
            </a:r>
            <a:r>
              <a:rPr kumimoji="1" lang="en-US" altLang="ja-JP" dirty="0"/>
              <a:t>1</a:t>
            </a:r>
            <a:r>
              <a:rPr kumimoji="1" lang="ja-JP" altLang="en-US" dirty="0"/>
              <a:t>回で直すのは</a:t>
            </a:r>
            <a:r>
              <a:rPr kumimoji="1" lang="en-US" altLang="ja-JP" dirty="0"/>
              <a:t>1〜3</a:t>
            </a:r>
            <a:r>
              <a:rPr kumimoji="1" lang="ja-JP" altLang="en-US" dirty="0"/>
              <a:t>ファイル、「今回はしないこと」も書いた</a:t>
            </a:r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3</a:t>
            </a:r>
            <a:r>
              <a:rPr kumimoji="1" lang="ja-JP" altLang="en-US" dirty="0"/>
              <a:t>：</a:t>
            </a:r>
            <a:r>
              <a:rPr kumimoji="1" lang="en-US" altLang="ja-JP" dirty="0"/>
              <a:t>CSS</a:t>
            </a:r>
            <a:r>
              <a:rPr kumimoji="1" lang="ja-JP" altLang="en-US" dirty="0"/>
              <a:t>がくずれたとき、どこを・どのくらい変えたいかを伝えて、それ以外はさわらないでと頼んだ。「技術がわかっていないと、頼み方もわからない」をいちばん言いたい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B7477-CFFE-48FE-8362-1D7FF90CA97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897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</a:t>
            </a:r>
            <a:r>
              <a:rPr kumimoji="1" lang="ja-JP" altLang="en-US"/>
              <a:t>スライド</a:t>
            </a:r>
            <a:r>
              <a:rPr kumimoji="1" lang="en-US" altLang="ja-JP"/>
              <a:t>5</a:t>
            </a:r>
            <a:r>
              <a:rPr kumimoji="1" lang="ja-JP" altLang="en-US"/>
              <a:t>・</a:t>
            </a:r>
            <a:r>
              <a:rPr kumimoji="1" lang="en-US" altLang="ja-JP"/>
              <a:t>2</a:t>
            </a:r>
            <a:r>
              <a:rPr kumimoji="1" lang="ja-JP" altLang="en-US"/>
              <a:t>分</a:t>
            </a:r>
            <a:r>
              <a:rPr kumimoji="1" lang="en-US" altLang="ja-JP"/>
              <a:t>】</a:t>
            </a:r>
            <a:r>
              <a:rPr kumimoji="1" lang="ja-JP" altLang="en-US"/>
              <a:t>話す人：岡野さん（まとめ）</a:t>
            </a:r>
          </a:p>
          <a:p>
            <a:r>
              <a:rPr kumimoji="1" lang="ja-JP" altLang="en-US"/>
              <a:t>・左の学び・気づきがメイン。</a:t>
            </a:r>
            <a:r>
              <a:rPr kumimoji="1" lang="en-US" altLang="ja-JP"/>
              <a:t>3</a:t>
            </a:r>
            <a:r>
              <a:rPr kumimoji="1" lang="ja-JP" altLang="en-US"/>
              <a:t>人で</a:t>
            </a:r>
            <a:r>
              <a:rPr kumimoji="1" lang="en-US" altLang="ja-JP"/>
              <a:t>1</a:t>
            </a:r>
            <a:r>
              <a:rPr kumimoji="1" lang="ja-JP" altLang="en-US"/>
              <a:t>つずつ言ってもよい</a:t>
            </a:r>
          </a:p>
          <a:p>
            <a:r>
              <a:rPr kumimoji="1" lang="ja-JP" altLang="en-US"/>
              <a:t>・右の数は、さっと読む。テスト</a:t>
            </a:r>
            <a:r>
              <a:rPr kumimoji="1" lang="en-US" altLang="ja-JP"/>
              <a:t>116</a:t>
            </a:r>
            <a:r>
              <a:rPr kumimoji="1" lang="ja-JP" altLang="en-US"/>
              <a:t>件はすべて </a:t>
            </a:r>
            <a:r>
              <a:rPr kumimoji="1" lang="en-US" altLang="ja-JP"/>
              <a:t>Pass</a:t>
            </a:r>
            <a:r>
              <a:rPr kumimoji="1" lang="ja-JP" altLang="en-US"/>
              <a:t>、不具合（</a:t>
            </a:r>
            <a:r>
              <a:rPr kumimoji="1" lang="en-US" altLang="ja-JP"/>
              <a:t>B-001</a:t>
            </a:r>
            <a:r>
              <a:rPr kumimoji="1" lang="ja-JP" altLang="en-US"/>
              <a:t>）も</a:t>
            </a:r>
            <a:r>
              <a:rPr kumimoji="1" lang="en-US" altLang="ja-JP"/>
              <a:t>1</a:t>
            </a:r>
            <a:r>
              <a:rPr kumimoji="1" lang="ja-JP" altLang="en-US"/>
              <a:t>件見つけて直した</a:t>
            </a:r>
          </a:p>
          <a:p>
            <a:r>
              <a:rPr kumimoji="1" lang="ja-JP" altLang="en-US"/>
              <a:t>・最後に「ありがとうございました」→ 質疑応答へ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B7477-CFFE-48FE-8362-1D7FF90CA97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541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58A1F7-EC4D-44CA-90B0-92D9D54A1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782703-BF59-45B3-AF49-BF9326E35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63BB9C-9482-403B-9582-D4785CE2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D14E58-BEE7-4E8E-A5A2-5EC42AE8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CFBD8D-39AC-410A-9819-F6FD497B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41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B56929-E82D-41D2-8AFE-A91EC02AE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CC7E95-AC48-4E08-BEBB-9648B2471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9ABC12-777B-4CE8-87BF-038A07EDB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08C42A-E6C0-408E-8D13-F62B241FB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540812-54A3-4C57-8445-CC5028AE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351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8E2574-EF9A-4B53-87C1-F012DF91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3F6170-96C9-4039-BFF7-66D3AA444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81AF76-41F2-427C-9B1B-3C3655B6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1DC532-27B8-4D35-A608-F03C1EFEE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BC7013-A9F2-44D5-8D4D-39024103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027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9C2CE-335E-4E0A-BD3B-5B5A0BDE0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7B784D-A4BC-4102-8CA1-D57AB1ECD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016748-4027-4931-8BDC-BDAF099B8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2791BC-F5D7-49B1-80AD-FFA44413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E7A67C-8F12-4C65-8E23-F3CAD969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F4022E-C5E3-4B85-9D9D-0B6530BDE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77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48FCCA-2B8E-40A2-A091-9C5CC20F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E9E4E4-6024-44B9-A7EE-D1BAFE97A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8A108C-E11F-4D86-BE53-1D7838603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67E72EF-7496-4354-A24E-7F10B2BE5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E09149-64CF-41C6-9198-4005D2BD9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5343D89-7DE6-4E41-B608-611AD1069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AF40E9-DDC5-40AA-9EAB-6C955530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C0356E0-8059-4B9A-B582-4B3F0CB61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30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F27657-7F53-4CC5-A692-6EF1CE87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8FFD35-CBD8-4312-9ED9-986FEEF12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680F7CC-347C-4E11-89D3-4F2D2724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28E02D-F57C-43EB-95F7-DEB71812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15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6982396-B515-476B-AC84-0E67DCEEB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89FD897-300A-401E-89A7-CBA492D4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09FE4E-C831-4716-908A-E1791272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60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DCE8D2-0AA9-406B-B249-951DFECE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F4BF5B-DFB7-4054-9A1F-EE278077C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A91C1A1-DCAA-4B1C-8988-CFA673A5D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CC5D80-A89D-49EB-8FD7-E9DA62EE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795659-FE92-457D-8815-32FB88FA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941DCE-7A63-4F5B-BCF1-B7BCD5ED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662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48952-FBE5-433E-892C-FCFE78DD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8487372-2F1D-49E2-881E-E63BAC5F05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9982C3-7612-478C-9795-8434917FA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B75229-49C3-49DA-A6FA-2D8C41968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8F4024-F59E-4B90-840D-41D0E7731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41589F1-A6C1-473D-BB65-907312A8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1295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45CBC7-915A-4807-B2A2-F016CA51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F668C2-E0C2-496F-A890-7A891809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D3FD77-A0C9-4876-AEF2-6F76D000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B1F457-014F-493C-AD01-5D1F3FDF9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5AB4BD-9A50-4124-8101-BAF144CD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89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32FE00-3985-4E06-8B20-747C38733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C50C4F4-DFCB-445F-9A53-440BF7159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8EE0B1-6889-4B9B-A757-E15523E5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88FD8F-8065-4EB7-BDAD-CDCD1BC09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7B711D-6ABA-41D4-A969-413B391F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3415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FB43D07-DFC5-45F0-A170-8A58F022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72565A-7377-446E-AF16-28B55C5B7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F6A5A4-02D8-4B3E-BFEF-13352CDB1C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0552-59A8-4316-96BC-911E78AD02A6}" type="datetimeFigureOut">
              <a:rPr kumimoji="1" lang="ja-JP" altLang="en-US" smtClean="0"/>
              <a:t>2026/10/23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946F7D-F158-4391-A6DE-EEC1168527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14F629-8CD1-47CE-A585-972D0B9C0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89E0D-2EAD-45B4-A812-D85435AE75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6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C38740D2-79DD-450D-9441-B3B4ADD5EB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92" y="309264"/>
            <a:ext cx="7888748" cy="264415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FF32CF7-9628-4EBA-AACE-F7E4D8844C71}"/>
              </a:ext>
            </a:extLst>
          </p:cNvPr>
          <p:cNvSpPr txBox="1"/>
          <p:nvPr/>
        </p:nvSpPr>
        <p:spPr>
          <a:xfrm>
            <a:off x="812800" y="6604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zh-TW" altLang="en-US" sz="16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情報処理科</a:t>
            </a:r>
            <a:r>
              <a:rPr kumimoji="1" lang="en-US" altLang="zh-TW" sz="16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zh-TW" altLang="en-US" sz="16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 </a:t>
            </a:r>
            <a:r>
              <a:rPr kumimoji="1" lang="en-US" altLang="zh-TW" sz="16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zh-TW" altLang="en-US" sz="16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班</a:t>
            </a:r>
            <a:endParaRPr kumimoji="1" lang="ja-JP" altLang="en-US" sz="1600" b="1">
              <a:solidFill>
                <a:srgbClr val="F7B6D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BD1CD20-F88F-4DC2-B140-9E6A6A14348C}"/>
              </a:ext>
            </a:extLst>
          </p:cNvPr>
          <p:cNvSpPr txBox="1"/>
          <p:nvPr/>
        </p:nvSpPr>
        <p:spPr>
          <a:xfrm>
            <a:off x="812800" y="2353787"/>
            <a:ext cx="10566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200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Claude</a:t>
            </a:r>
            <a:r>
              <a:rPr lang="ja-JP" altLang="en-US" sz="200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と作った！</a:t>
            </a:r>
            <a:r>
              <a:rPr kumimoji="1" lang="ja-JP" altLang="en-US" sz="2000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音楽に合わせて、落ちてくるウイルスをキーで叩くリズムゲーム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F3D9226-1082-4D93-AD3F-B17DE10DD5DB}"/>
              </a:ext>
            </a:extLst>
          </p:cNvPr>
          <p:cNvSpPr/>
          <p:nvPr/>
        </p:nvSpPr>
        <p:spPr>
          <a:xfrm>
            <a:off x="812800" y="3429000"/>
            <a:ext cx="3352800" cy="13970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F698BB6-4EFC-411B-9419-4DE4A465FE8E}"/>
              </a:ext>
            </a:extLst>
          </p:cNvPr>
          <p:cNvSpPr/>
          <p:nvPr/>
        </p:nvSpPr>
        <p:spPr>
          <a:xfrm>
            <a:off x="1041400" y="3810000"/>
            <a:ext cx="584200" cy="584200"/>
          </a:xfrm>
          <a:prstGeom prst="ellipse">
            <a:avLst/>
          </a:prstGeom>
          <a:solidFill>
            <a:srgbClr val="E236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ja-JP" altLang="en-US" sz="2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松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F7D3655-D282-475E-AB5C-1119C853BEEF}"/>
              </a:ext>
            </a:extLst>
          </p:cNvPr>
          <p:cNvSpPr txBox="1"/>
          <p:nvPr/>
        </p:nvSpPr>
        <p:spPr>
          <a:xfrm>
            <a:off x="1778000" y="3657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zh-TW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松井（班長）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6F7BAA-151F-4E8F-8DA9-45B4999A1CEC}"/>
              </a:ext>
            </a:extLst>
          </p:cNvPr>
          <p:cNvSpPr txBox="1"/>
          <p:nvPr/>
        </p:nvSpPr>
        <p:spPr>
          <a:xfrm>
            <a:off x="1778000" y="4038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タイトル・セレクト画面</a:t>
            </a:r>
          </a:p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ランキング・キャラの絵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1EA4C66-C146-4977-86E1-46EE6734DBBA}"/>
              </a:ext>
            </a:extLst>
          </p:cNvPr>
          <p:cNvSpPr/>
          <p:nvPr/>
        </p:nvSpPr>
        <p:spPr>
          <a:xfrm>
            <a:off x="4419600" y="3429000"/>
            <a:ext cx="3352800" cy="13970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FD6793B1-0536-4B56-99CB-8D7C41257826}"/>
              </a:ext>
            </a:extLst>
          </p:cNvPr>
          <p:cNvSpPr/>
          <p:nvPr/>
        </p:nvSpPr>
        <p:spPr>
          <a:xfrm>
            <a:off x="4648200" y="3810000"/>
            <a:ext cx="584200" cy="584200"/>
          </a:xfrm>
          <a:prstGeom prst="ellipse">
            <a:avLst/>
          </a:prstGeom>
          <a:solidFill>
            <a:srgbClr val="1F9C7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ja-JP" altLang="en-US" sz="2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岡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9FC79B2-71A6-4C2B-98D4-C5A94C6BAD31}"/>
              </a:ext>
            </a:extLst>
          </p:cNvPr>
          <p:cNvSpPr txBox="1"/>
          <p:nvPr/>
        </p:nvSpPr>
        <p:spPr>
          <a:xfrm>
            <a:off x="5384800" y="3657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岡野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AF5DDBD-B1EB-4451-86AD-99EDAF00EBE5}"/>
              </a:ext>
            </a:extLst>
          </p:cNvPr>
          <p:cNvSpPr txBox="1"/>
          <p:nvPr/>
        </p:nvSpPr>
        <p:spPr>
          <a:xfrm>
            <a:off x="5384800" y="4038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リザルト画面（認定証）</a:t>
            </a:r>
          </a:p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豆知識・テスト仕様書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2B038DE9-846E-4147-A0FC-90024AD8AA44}"/>
              </a:ext>
            </a:extLst>
          </p:cNvPr>
          <p:cNvSpPr/>
          <p:nvPr/>
        </p:nvSpPr>
        <p:spPr>
          <a:xfrm>
            <a:off x="8026400" y="3429000"/>
            <a:ext cx="3352800" cy="13970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86B9450-9958-4BB2-976B-7F32EAF5C1E7}"/>
              </a:ext>
            </a:extLst>
          </p:cNvPr>
          <p:cNvSpPr/>
          <p:nvPr/>
        </p:nvSpPr>
        <p:spPr>
          <a:xfrm>
            <a:off x="8255000" y="3810000"/>
            <a:ext cx="584200" cy="584200"/>
          </a:xfrm>
          <a:prstGeom prst="ellipse">
            <a:avLst/>
          </a:prstGeom>
          <a:solidFill>
            <a:srgbClr val="2A7FD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ja-JP" altLang="en-US" sz="22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中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391AAF3-60B4-4734-B658-9E06659EF2C2}"/>
              </a:ext>
            </a:extLst>
          </p:cNvPr>
          <p:cNvSpPr txBox="1"/>
          <p:nvPr/>
        </p:nvSpPr>
        <p:spPr>
          <a:xfrm>
            <a:off x="8991600" y="3657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中山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D2AF459-7995-45C3-9469-76D471493CAF}"/>
              </a:ext>
            </a:extLst>
          </p:cNvPr>
          <p:cNvSpPr txBox="1"/>
          <p:nvPr/>
        </p:nvSpPr>
        <p:spPr>
          <a:xfrm>
            <a:off x="8991600" y="40386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プレイ画面・判定・スコア</a:t>
            </a:r>
          </a:p>
          <a:p>
            <a:pPr>
              <a:spcAft>
                <a:spcPts val="400"/>
              </a:spcAft>
            </a:pPr>
            <a:r>
              <a:rPr kumimoji="1" lang="en-US" altLang="ja-JP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kumimoji="1" lang="ja-JP" altLang="en-US" sz="14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曲の譜面と音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3F868B1-7DDA-487A-9967-09D5D714021A}"/>
              </a:ext>
            </a:extLst>
          </p:cNvPr>
          <p:cNvSpPr txBox="1"/>
          <p:nvPr/>
        </p:nvSpPr>
        <p:spPr>
          <a:xfrm>
            <a:off x="812800" y="53340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使った</a:t>
            </a:r>
            <a:r>
              <a:rPr kumimoji="1" lang="en-US" altLang="ja-JP" sz="14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4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kumimoji="1" lang="en-US" altLang="ja-JP" sz="14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人全員）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B51A8E5-46FA-4766-8AE2-6976D1CC6EAA}"/>
              </a:ext>
            </a:extLst>
          </p:cNvPr>
          <p:cNvSpPr txBox="1"/>
          <p:nvPr/>
        </p:nvSpPr>
        <p:spPr>
          <a:xfrm>
            <a:off x="812800" y="5664200"/>
            <a:ext cx="10566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Google Gemini </a:t>
            </a:r>
            <a:r>
              <a:rPr kumimoji="1" lang="ja-JP" altLang="en-US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／ </a:t>
            </a:r>
            <a:r>
              <a:rPr kumimoji="1" lang="en-US" altLang="ja-JP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Claude </a:t>
            </a:r>
            <a:r>
              <a:rPr kumimoji="1" lang="ja-JP" altLang="en-US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／ </a:t>
            </a:r>
            <a:r>
              <a:rPr kumimoji="1" lang="en-US" altLang="ja-JP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Claude Code </a:t>
            </a:r>
            <a:r>
              <a:rPr kumimoji="1" lang="ja-JP" altLang="en-US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／ </a:t>
            </a:r>
            <a:r>
              <a:rPr kumimoji="1" lang="en-US" altLang="ja-JP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ChatGPT</a:t>
            </a:r>
            <a:endParaRPr kumimoji="1" lang="ja-JP" altLang="en-US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1" name="キャラ0" descr="ゲームのキャラクター">
            <a:extLst>
              <a:ext uri="{FF2B5EF4-FFF2-40B4-BE49-F238E27FC236}">
                <a16:creationId xmlns:a16="http://schemas.microsoft.com/office/drawing/2014/main" id="{FDE0A68C-1D3B-4BE9-B9C6-AF32B494D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9110" y="1036018"/>
            <a:ext cx="868680" cy="868680"/>
          </a:xfrm>
          <a:prstGeom prst="rect">
            <a:avLst/>
          </a:prstGeom>
        </p:spPr>
      </p:pic>
      <p:pic>
        <p:nvPicPr>
          <p:cNvPr id="22" name="キャラ1" descr="ゲームのキャラクター">
            <a:extLst>
              <a:ext uri="{FF2B5EF4-FFF2-40B4-BE49-F238E27FC236}">
                <a16:creationId xmlns:a16="http://schemas.microsoft.com/office/drawing/2014/main" id="{159BFA72-680C-436D-AECB-CCD5CCE696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9110" y="5298668"/>
            <a:ext cx="868680" cy="920173"/>
          </a:xfrm>
          <a:prstGeom prst="rect">
            <a:avLst/>
          </a:prstGeom>
        </p:spPr>
      </p:pic>
      <p:pic>
        <p:nvPicPr>
          <p:cNvPr id="23" name="キャラ2" descr="ゲームのキャラクター">
            <a:extLst>
              <a:ext uri="{FF2B5EF4-FFF2-40B4-BE49-F238E27FC236}">
                <a16:creationId xmlns:a16="http://schemas.microsoft.com/office/drawing/2014/main" id="{3448302C-8DD5-4B5F-AC26-03FE02E69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2665" y="2409450"/>
            <a:ext cx="777240" cy="78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56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E95758-66E7-47B2-89E5-E8DDAA275611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30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ターゲット・課題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20766B83-04F2-470A-A743-CE0D572B73B1}"/>
              </a:ext>
            </a:extLst>
          </p:cNvPr>
          <p:cNvSpPr/>
          <p:nvPr/>
        </p:nvSpPr>
        <p:spPr>
          <a:xfrm>
            <a:off x="683288" y="1219200"/>
            <a:ext cx="7038311" cy="5130800"/>
          </a:xfrm>
          <a:prstGeom prst="roundRect">
            <a:avLst>
              <a:gd name="adj" fmla="val 8000"/>
            </a:avLst>
          </a:prstGeom>
          <a:solidFill>
            <a:srgbClr val="F3EE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06A591-E482-4E4E-89D3-881EDBE44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544" y="964998"/>
            <a:ext cx="4344543" cy="5792724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3408D1C-5507-426F-B5CF-442D3B230E8C}"/>
              </a:ext>
            </a:extLst>
          </p:cNvPr>
          <p:cNvSpPr txBox="1"/>
          <p:nvPr/>
        </p:nvSpPr>
        <p:spPr>
          <a:xfrm>
            <a:off x="3225800" y="1572085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6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ペルソナ（ターゲットユーザー）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A5CDD5E-F823-4F19-A097-947746503B9C}"/>
              </a:ext>
            </a:extLst>
          </p:cNvPr>
          <p:cNvSpPr txBox="1"/>
          <p:nvPr/>
        </p:nvSpPr>
        <p:spPr>
          <a:xfrm>
            <a:off x="3225800" y="2144699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10B937C-ABFE-4F5A-B20B-EA9691035369}"/>
              </a:ext>
            </a:extLst>
          </p:cNvPr>
          <p:cNvSpPr txBox="1"/>
          <p:nvPr/>
        </p:nvSpPr>
        <p:spPr>
          <a:xfrm>
            <a:off x="3962400" y="2144699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松田みゆ（女性・</a:t>
            </a:r>
            <a:r>
              <a:rPr kumimoji="1" lang="en-US" altLang="ja-JP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17</a:t>
            </a: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歳）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AA1A2D9-4A07-48AA-A583-12E839376D9C}"/>
              </a:ext>
            </a:extLst>
          </p:cNvPr>
          <p:cNvSpPr txBox="1"/>
          <p:nvPr/>
        </p:nvSpPr>
        <p:spPr>
          <a:xfrm>
            <a:off x="3225800" y="2576499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家族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9A5C2D-6665-446F-B11A-90AF9892E81C}"/>
              </a:ext>
            </a:extLst>
          </p:cNvPr>
          <p:cNvSpPr txBox="1"/>
          <p:nvPr/>
        </p:nvSpPr>
        <p:spPr>
          <a:xfrm>
            <a:off x="3962400" y="2576499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人家族（父・母・兄</a:t>
            </a:r>
            <a:r>
              <a:rPr kumimoji="1" lang="en-US" altLang="ja-JP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</a:t>
            </a: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歳）。</a:t>
            </a:r>
            <a:endParaRPr kumimoji="1" lang="en-US" altLang="ja-JP" sz="1500" dirty="0">
              <a:solidFill>
                <a:srgbClr val="2B1F4A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spcAft>
                <a:spcPts val="400"/>
              </a:spcAft>
            </a:pP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両親は</a:t>
            </a:r>
            <a:r>
              <a:rPr kumimoji="1" lang="en-US" altLang="ja-JP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IT</a:t>
            </a: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系の仕事で、自分も</a:t>
            </a:r>
            <a:r>
              <a:rPr kumimoji="1" lang="en-US" altLang="ja-JP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IT</a:t>
            </a: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に興味がある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B5723D9-57A4-40E1-B3FF-20DCED1DA5E4}"/>
              </a:ext>
            </a:extLst>
          </p:cNvPr>
          <p:cNvSpPr txBox="1"/>
          <p:nvPr/>
        </p:nvSpPr>
        <p:spPr>
          <a:xfrm>
            <a:off x="3225800" y="3581898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住まい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86BD67A-6E31-4B4A-A1BE-955802F79600}"/>
              </a:ext>
            </a:extLst>
          </p:cNvPr>
          <p:cNvSpPr txBox="1"/>
          <p:nvPr/>
        </p:nvSpPr>
        <p:spPr>
          <a:xfrm>
            <a:off x="3962400" y="3581898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東京都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9F63D3A-04D4-4117-9E96-5EB2C1D6B0ED}"/>
              </a:ext>
            </a:extLst>
          </p:cNvPr>
          <p:cNvSpPr txBox="1"/>
          <p:nvPr/>
        </p:nvSpPr>
        <p:spPr>
          <a:xfrm>
            <a:off x="3225800" y="4013698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 dirty="0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6CB4E46-0A7C-42AB-9586-F6BB99DAB279}"/>
              </a:ext>
            </a:extLst>
          </p:cNvPr>
          <p:cNvSpPr txBox="1"/>
          <p:nvPr/>
        </p:nvSpPr>
        <p:spPr>
          <a:xfrm>
            <a:off x="3962400" y="4013698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都立高校</a:t>
            </a:r>
            <a:r>
              <a:rPr kumimoji="1" lang="en-US" altLang="ja-JP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endParaRPr kumimoji="1" lang="en-US" altLang="ja-JP" sz="1500" dirty="0">
              <a:solidFill>
                <a:srgbClr val="2B1F4A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spcAft>
                <a:spcPts val="400"/>
              </a:spcAft>
            </a:pP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ハンドボール部のマネージャー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04E9FB3-E95A-4EE5-886A-2EF61AA515CD}"/>
              </a:ext>
            </a:extLst>
          </p:cNvPr>
          <p:cNvSpPr txBox="1"/>
          <p:nvPr/>
        </p:nvSpPr>
        <p:spPr>
          <a:xfrm>
            <a:off x="3225800" y="4699498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好き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6F6BA8-3EBE-4F54-A681-B00E6F02CE0B}"/>
              </a:ext>
            </a:extLst>
          </p:cNvPr>
          <p:cNvSpPr txBox="1"/>
          <p:nvPr/>
        </p:nvSpPr>
        <p:spPr>
          <a:xfrm>
            <a:off x="3962400" y="4699498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メイクとかわいいものが大好き</a:t>
            </a:r>
            <a:endParaRPr kumimoji="1" lang="en-US" altLang="ja-JP" sz="1500" dirty="0">
              <a:solidFill>
                <a:srgbClr val="2B1F4A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spcAft>
                <a:spcPts val="400"/>
              </a:spcAft>
            </a:pP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見た目はギャル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47E4D8D-3F61-468B-B8F8-65FC23BE9175}"/>
              </a:ext>
            </a:extLst>
          </p:cNvPr>
          <p:cNvSpPr txBox="1"/>
          <p:nvPr/>
        </p:nvSpPr>
        <p:spPr>
          <a:xfrm>
            <a:off x="3225800" y="5385298"/>
            <a:ext cx="711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悩み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027A65D-8A56-4A30-97B1-88A231473A0D}"/>
              </a:ext>
            </a:extLst>
          </p:cNvPr>
          <p:cNvSpPr txBox="1"/>
          <p:nvPr/>
        </p:nvSpPr>
        <p:spPr>
          <a:xfrm>
            <a:off x="3962400" y="5385298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楽しいイベントに行きたいけれど、</a:t>
            </a:r>
            <a:endParaRPr kumimoji="1" lang="en-US" altLang="ja-JP" sz="1500" dirty="0">
              <a:solidFill>
                <a:srgbClr val="2B1F4A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spcAft>
                <a:spcPts val="400"/>
              </a:spcAft>
            </a:pPr>
            <a:r>
              <a:rPr kumimoji="1" lang="ja-JP" altLang="en-US" sz="1500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お金がない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6C68752-FFC4-4836-AA81-5E0B0B891A3D}"/>
              </a:ext>
            </a:extLst>
          </p:cNvPr>
          <p:cNvSpPr/>
          <p:nvPr/>
        </p:nvSpPr>
        <p:spPr>
          <a:xfrm>
            <a:off x="8026400" y="1219200"/>
            <a:ext cx="3556000" cy="2540000"/>
          </a:xfrm>
          <a:prstGeom prst="roundRect">
            <a:avLst>
              <a:gd name="adj" fmla="val 8000"/>
            </a:avLst>
          </a:prstGeom>
          <a:solidFill>
            <a:srgbClr val="FBE3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504170F-B157-445E-817F-578FD2FBD159}"/>
              </a:ext>
            </a:extLst>
          </p:cNvPr>
          <p:cNvSpPr txBox="1"/>
          <p:nvPr/>
        </p:nvSpPr>
        <p:spPr>
          <a:xfrm>
            <a:off x="8331200" y="14732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課題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6AF5EAC-E926-4CD8-928F-090A3EBF0DFD}"/>
              </a:ext>
            </a:extLst>
          </p:cNvPr>
          <p:cNvSpPr txBox="1"/>
          <p:nvPr/>
        </p:nvSpPr>
        <p:spPr>
          <a:xfrm>
            <a:off x="8331200" y="1854199"/>
            <a:ext cx="2997200" cy="7222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2000" b="1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お金を使わずに、学園祭で楽しく遊びたい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07E2F0F-9937-42AA-8B33-F48EFE6940A8}"/>
              </a:ext>
            </a:extLst>
          </p:cNvPr>
          <p:cNvSpPr txBox="1"/>
          <p:nvPr/>
        </p:nvSpPr>
        <p:spPr>
          <a:xfrm>
            <a:off x="8331200" y="2877726"/>
            <a:ext cx="2997200" cy="5142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600" dirty="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高校生でも、無料で気軽に楽しめる展示が</a:t>
            </a:r>
            <a:r>
              <a:rPr lang="ja-JP" altLang="en-US" sz="1600" dirty="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あると嬉しい</a:t>
            </a:r>
            <a:endParaRPr kumimoji="1" lang="ja-JP" altLang="en-US" sz="1600" dirty="0">
              <a:solidFill>
                <a:srgbClr val="6B5B8C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矢印: 下 22">
            <a:extLst>
              <a:ext uri="{FF2B5EF4-FFF2-40B4-BE49-F238E27FC236}">
                <a16:creationId xmlns:a16="http://schemas.microsoft.com/office/drawing/2014/main" id="{671A47FE-78AC-416B-96A4-D44A287BCC0B}"/>
              </a:ext>
            </a:extLst>
          </p:cNvPr>
          <p:cNvSpPr/>
          <p:nvPr/>
        </p:nvSpPr>
        <p:spPr>
          <a:xfrm>
            <a:off x="9525000" y="3911600"/>
            <a:ext cx="558800" cy="381000"/>
          </a:xfrm>
          <a:prstGeom prst="downArrow">
            <a:avLst/>
          </a:prstGeom>
          <a:solidFill>
            <a:srgbClr val="E236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0FE303DE-4A27-46CE-A5B7-F25CF0591C5B}"/>
              </a:ext>
            </a:extLst>
          </p:cNvPr>
          <p:cNvSpPr/>
          <p:nvPr/>
        </p:nvSpPr>
        <p:spPr>
          <a:xfrm>
            <a:off x="8026400" y="4445000"/>
            <a:ext cx="3556000" cy="1905000"/>
          </a:xfrm>
          <a:prstGeom prst="roundRect">
            <a:avLst>
              <a:gd name="adj" fmla="val 8000"/>
            </a:avLst>
          </a:prstGeom>
          <a:solidFill>
            <a:srgbClr val="2B1F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2040D5E-9049-4DF4-9273-955495A9113A}"/>
              </a:ext>
            </a:extLst>
          </p:cNvPr>
          <p:cNvSpPr txBox="1"/>
          <p:nvPr/>
        </p:nvSpPr>
        <p:spPr>
          <a:xfrm>
            <a:off x="8331200" y="48006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そこで、私たちが作ったのは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778BDD19-E604-4CA3-BADE-16B64450D0FF}"/>
              </a:ext>
            </a:extLst>
          </p:cNvPr>
          <p:cNvSpPr txBox="1"/>
          <p:nvPr/>
        </p:nvSpPr>
        <p:spPr>
          <a:xfrm>
            <a:off x="8331200" y="5181600"/>
            <a:ext cx="2997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ゆめかわ★ウイルス・ぽっぷ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4839B05-28CB-4839-A678-9D7E871B0E6A}"/>
              </a:ext>
            </a:extLst>
          </p:cNvPr>
          <p:cNvSpPr txBox="1"/>
          <p:nvPr/>
        </p:nvSpPr>
        <p:spPr>
          <a:xfrm>
            <a:off x="8331200" y="5740400"/>
            <a:ext cx="2997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>
                <a:solidFill>
                  <a:srgbClr val="D9CF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 次のページで紹介します</a:t>
            </a:r>
          </a:p>
        </p:txBody>
      </p:sp>
      <p:pic>
        <p:nvPicPr>
          <p:cNvPr id="28" name="キャラ0" descr="ゲームのキャラクター">
            <a:extLst>
              <a:ext uri="{FF2B5EF4-FFF2-40B4-BE49-F238E27FC236}">
                <a16:creationId xmlns:a16="http://schemas.microsoft.com/office/drawing/2014/main" id="{4FA81DB2-8E85-41BC-B272-A75122720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054" y="3926086"/>
            <a:ext cx="868680" cy="868680"/>
          </a:xfrm>
          <a:prstGeom prst="rect">
            <a:avLst/>
          </a:prstGeom>
        </p:spPr>
      </p:pic>
      <p:pic>
        <p:nvPicPr>
          <p:cNvPr id="29" name="キャラ1" descr="ゲームのキャラクター">
            <a:extLst>
              <a:ext uri="{FF2B5EF4-FFF2-40B4-BE49-F238E27FC236}">
                <a16:creationId xmlns:a16="http://schemas.microsoft.com/office/drawing/2014/main" id="{28762EEF-2DE1-416A-80C1-EAA2DA1CD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4060" y="4013200"/>
            <a:ext cx="868680" cy="920173"/>
          </a:xfrm>
          <a:prstGeom prst="rect">
            <a:avLst/>
          </a:prstGeom>
        </p:spPr>
      </p:pic>
      <p:pic>
        <p:nvPicPr>
          <p:cNvPr id="30" name="キャラ2" descr="ゲームのキャラクター">
            <a:extLst>
              <a:ext uri="{FF2B5EF4-FFF2-40B4-BE49-F238E27FC236}">
                <a16:creationId xmlns:a16="http://schemas.microsoft.com/office/drawing/2014/main" id="{FAD30DD9-1618-4D0F-8422-7F1E63218A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5960" y="5546521"/>
            <a:ext cx="777240" cy="781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33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6033B6-99FC-4DDC-B6DF-3278666B37D2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30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コア機能・実機デモ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0087A983-FD1B-4B30-B84C-60FFAA29A166}"/>
              </a:ext>
            </a:extLst>
          </p:cNvPr>
          <p:cNvSpPr/>
          <p:nvPr/>
        </p:nvSpPr>
        <p:spPr>
          <a:xfrm>
            <a:off x="7874000" y="1371600"/>
            <a:ext cx="558800" cy="558800"/>
          </a:xfrm>
          <a:prstGeom prst="ellipse">
            <a:avLst/>
          </a:prstGeom>
          <a:solidFill>
            <a:srgbClr val="E236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sz="20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20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9AFF29E-8058-4E34-8C39-5F1C03503BEC}"/>
              </a:ext>
            </a:extLst>
          </p:cNvPr>
          <p:cNvSpPr txBox="1"/>
          <p:nvPr/>
        </p:nvSpPr>
        <p:spPr>
          <a:xfrm>
            <a:off x="8610600" y="1397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曲を選ぶ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632F578-58DB-4690-98C2-EA49F01302E1}"/>
              </a:ext>
            </a:extLst>
          </p:cNvPr>
          <p:cNvSpPr txBox="1"/>
          <p:nvPr/>
        </p:nvSpPr>
        <p:spPr>
          <a:xfrm>
            <a:off x="8610600" y="1778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400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r>
              <a:rPr kumimoji="1" lang="ja-JP" altLang="en-US" sz="1400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曲・★</a:t>
            </a:r>
            <a:r>
              <a:rPr kumimoji="1" lang="en-US" altLang="ja-JP" sz="1400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1〜6</a:t>
            </a:r>
            <a:r>
              <a:rPr kumimoji="1" lang="ja-JP" altLang="en-US" sz="1400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。やさしい順に並ぶ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D11CAC4-AE0F-45B5-A55F-3185ABB4045F}"/>
              </a:ext>
            </a:extLst>
          </p:cNvPr>
          <p:cNvSpPr/>
          <p:nvPr/>
        </p:nvSpPr>
        <p:spPr>
          <a:xfrm>
            <a:off x="7874000" y="2641600"/>
            <a:ext cx="558800" cy="558800"/>
          </a:xfrm>
          <a:prstGeom prst="ellipse">
            <a:avLst/>
          </a:prstGeom>
          <a:solidFill>
            <a:srgbClr val="8A4F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sz="20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20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2097299-5448-4884-A150-1A4279E61710}"/>
              </a:ext>
            </a:extLst>
          </p:cNvPr>
          <p:cNvSpPr txBox="1"/>
          <p:nvPr/>
        </p:nvSpPr>
        <p:spPr>
          <a:xfrm>
            <a:off x="8610600" y="2667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キーで叩く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C14F745-5B1F-48E8-94F6-C1CD6624BC6A}"/>
              </a:ext>
            </a:extLst>
          </p:cNvPr>
          <p:cNvSpPr txBox="1"/>
          <p:nvPr/>
        </p:nvSpPr>
        <p:spPr>
          <a:xfrm>
            <a:off x="8610600" y="3048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叩くとメロディが鳴る</a:t>
            </a:r>
          </a:p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ミスで画面がゆれる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414DF65D-01C8-48D2-8044-C9C1A0D18801}"/>
              </a:ext>
            </a:extLst>
          </p:cNvPr>
          <p:cNvSpPr/>
          <p:nvPr/>
        </p:nvSpPr>
        <p:spPr>
          <a:xfrm>
            <a:off x="7874000" y="3911600"/>
            <a:ext cx="558800" cy="558800"/>
          </a:xfrm>
          <a:prstGeom prst="ellipse">
            <a:avLst/>
          </a:prstGeom>
          <a:solidFill>
            <a:srgbClr val="1F9C7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sz="20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2000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D63E976-4271-4BD9-ACC3-35B4DC49CCDE}"/>
              </a:ext>
            </a:extLst>
          </p:cNvPr>
          <p:cNvSpPr txBox="1"/>
          <p:nvPr/>
        </p:nvSpPr>
        <p:spPr>
          <a:xfrm>
            <a:off x="8610600" y="3937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ランクと本日のトップ</a:t>
            </a:r>
            <a:r>
              <a:rPr kumimoji="1" lang="en-US" altLang="ja-JP" b="1" dirty="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b="1" dirty="0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E0215B4-9BF3-4E72-A0C4-99C12E665A23}"/>
              </a:ext>
            </a:extLst>
          </p:cNvPr>
          <p:cNvSpPr txBox="1"/>
          <p:nvPr/>
        </p:nvSpPr>
        <p:spPr>
          <a:xfrm>
            <a:off x="8610600" y="43180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名前を入れて、友だちと競える</a:t>
            </a:r>
          </a:p>
        </p:txBody>
      </p:sp>
      <p:pic>
        <p:nvPicPr>
          <p:cNvPr id="14" name="ゆめかわ_デモ動画">
            <a:hlinkClick r:id="" action="ppaction://media"/>
            <a:extLst>
              <a:ext uri="{FF2B5EF4-FFF2-40B4-BE49-F238E27FC236}">
                <a16:creationId xmlns:a16="http://schemas.microsoft.com/office/drawing/2014/main" id="{BD301A6E-2F01-46AE-91B6-3544F4C63F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3400" y="1104900"/>
            <a:ext cx="6908801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37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19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44B1BF1-F608-4A76-B071-680BE0E23A95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30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30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活用の工夫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386220-599D-4976-A3C5-95056E0074C1}"/>
              </a:ext>
            </a:extLst>
          </p:cNvPr>
          <p:cNvSpPr txBox="1"/>
          <p:nvPr/>
        </p:nvSpPr>
        <p:spPr>
          <a:xfrm>
            <a:off x="609600" y="9906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5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ルールは</a:t>
            </a:r>
            <a:r>
              <a:rPr kumimoji="1" lang="en-US" altLang="ja-JP" sz="15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500">
                <a:solidFill>
                  <a:srgbClr val="6B5B8C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つのファイル、頼みごとは小さく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7BA2101-C1F9-4573-B5DE-214674385319}"/>
              </a:ext>
            </a:extLst>
          </p:cNvPr>
          <p:cNvSpPr/>
          <p:nvPr/>
        </p:nvSpPr>
        <p:spPr>
          <a:xfrm>
            <a:off x="609600" y="1346200"/>
            <a:ext cx="3505200" cy="495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DFF88D5-D424-4EAE-96F1-F671A0BEB930}"/>
              </a:ext>
            </a:extLst>
          </p:cNvPr>
          <p:cNvSpPr/>
          <p:nvPr/>
        </p:nvSpPr>
        <p:spPr>
          <a:xfrm>
            <a:off x="838200" y="1524000"/>
            <a:ext cx="508000" cy="508000"/>
          </a:xfrm>
          <a:prstGeom prst="ellipse">
            <a:avLst/>
          </a:prstGeom>
          <a:solidFill>
            <a:srgbClr val="E236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8A6A609-8EB8-4502-90DD-B7A939E10C0C}"/>
              </a:ext>
            </a:extLst>
          </p:cNvPr>
          <p:cNvSpPr txBox="1"/>
          <p:nvPr/>
        </p:nvSpPr>
        <p:spPr>
          <a:xfrm>
            <a:off x="1473200" y="1524000"/>
            <a:ext cx="2463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の案は、人が選ぶ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1C4E36-2EA7-44BC-B53F-C9B0B1FA1936}"/>
              </a:ext>
            </a:extLst>
          </p:cNvPr>
          <p:cNvSpPr txBox="1"/>
          <p:nvPr/>
        </p:nvSpPr>
        <p:spPr>
          <a:xfrm>
            <a:off x="838200" y="2209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困ったこと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C51C3FB-EA19-4D53-AB6F-4499E14C8A13}"/>
              </a:ext>
            </a:extLst>
          </p:cNvPr>
          <p:cNvSpPr txBox="1"/>
          <p:nvPr/>
        </p:nvSpPr>
        <p:spPr>
          <a:xfrm>
            <a:off x="838200" y="2463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 </a:t>
            </a: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Canvas 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や、習っていない書き方（</a:t>
            </a: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flatMap 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など）を出してくる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1D48C3-EA26-40DE-9575-1231CC6C0E01}"/>
              </a:ext>
            </a:extLst>
          </p:cNvPr>
          <p:cNvSpPr txBox="1"/>
          <p:nvPr/>
        </p:nvSpPr>
        <p:spPr>
          <a:xfrm>
            <a:off x="838200" y="3378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こうした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6240461-AF79-4366-99D1-72EACF05EEE7}"/>
              </a:ext>
            </a:extLst>
          </p:cNvPr>
          <p:cNvSpPr txBox="1"/>
          <p:nvPr/>
        </p:nvSpPr>
        <p:spPr>
          <a:xfrm>
            <a:off x="8382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授業で習った 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DOM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＋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CSS 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を選び、説明できる書き方に直させて「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// ★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」で説明を付けさせた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DDE5D62-54C4-43C0-B5CA-0E43642BE9D4}"/>
              </a:ext>
            </a:extLst>
          </p:cNvPr>
          <p:cNvSpPr/>
          <p:nvPr/>
        </p:nvSpPr>
        <p:spPr>
          <a:xfrm>
            <a:off x="762000" y="5080000"/>
            <a:ext cx="3200400" cy="1041400"/>
          </a:xfrm>
          <a:prstGeom prst="roundRect">
            <a:avLst>
              <a:gd name="adj" fmla="val 8000"/>
            </a:avLst>
          </a:prstGeom>
          <a:solidFill>
            <a:srgbClr val="FBE3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0" rIns="152400" bIns="0" rtlCol="0" anchor="ctr"/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タイトルの絵やスタートの方法も、遊ぶ人に合うかで選んだ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88BF92E-EE8D-4EAF-90AE-606E8B5AF4F5}"/>
              </a:ext>
            </a:extLst>
          </p:cNvPr>
          <p:cNvSpPr/>
          <p:nvPr/>
        </p:nvSpPr>
        <p:spPr>
          <a:xfrm>
            <a:off x="4343400" y="1346200"/>
            <a:ext cx="3505200" cy="495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2F5E1DFB-00B5-4ED7-A10A-9E8CFD2252D2}"/>
              </a:ext>
            </a:extLst>
          </p:cNvPr>
          <p:cNvSpPr/>
          <p:nvPr/>
        </p:nvSpPr>
        <p:spPr>
          <a:xfrm>
            <a:off x="4572000" y="1524000"/>
            <a:ext cx="508000" cy="508000"/>
          </a:xfrm>
          <a:prstGeom prst="ellipse">
            <a:avLst/>
          </a:prstGeom>
          <a:solidFill>
            <a:srgbClr val="8A4F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3504817-3D0C-49DD-A0C2-A0151DD26BD2}"/>
              </a:ext>
            </a:extLst>
          </p:cNvPr>
          <p:cNvSpPr txBox="1"/>
          <p:nvPr/>
        </p:nvSpPr>
        <p:spPr>
          <a:xfrm>
            <a:off x="5207000" y="1524000"/>
            <a:ext cx="2463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ルールを</a:t>
            </a:r>
            <a:r>
              <a:rPr kumimoji="1" lang="en-US" altLang="ja-JP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つのファイルに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9FD1E7A-2242-4EF6-A941-DDFEEB53D2DB}"/>
              </a:ext>
            </a:extLst>
          </p:cNvPr>
          <p:cNvSpPr txBox="1"/>
          <p:nvPr/>
        </p:nvSpPr>
        <p:spPr>
          <a:xfrm>
            <a:off x="4572000" y="2209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困ったこと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78BFE1B-026E-4DD9-BD15-452F24F6345D}"/>
              </a:ext>
            </a:extLst>
          </p:cNvPr>
          <p:cNvSpPr txBox="1"/>
          <p:nvPr/>
        </p:nvSpPr>
        <p:spPr>
          <a:xfrm>
            <a:off x="4572000" y="2463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人が</a:t>
            </a: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</a:t>
            </a: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にバラバラに頼むと、ほかの人のファイルや関数の名前を勝手に変える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8314E62-610C-46F7-AC69-1F09A9AE53CB}"/>
              </a:ext>
            </a:extLst>
          </p:cNvPr>
          <p:cNvSpPr txBox="1"/>
          <p:nvPr/>
        </p:nvSpPr>
        <p:spPr>
          <a:xfrm>
            <a:off x="4572000" y="3378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8A4FE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こうした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AD25118-E244-4AAA-88D8-87B9BB608B18}"/>
              </a:ext>
            </a:extLst>
          </p:cNvPr>
          <p:cNvSpPr txBox="1"/>
          <p:nvPr/>
        </p:nvSpPr>
        <p:spPr>
          <a:xfrm>
            <a:off x="45720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班の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か条を「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へのお願い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.md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」にまとめ、毎回「これを読んでから作業して」と頼んだ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E8F31E1E-CF5C-4E8D-B683-768FDE583F29}"/>
              </a:ext>
            </a:extLst>
          </p:cNvPr>
          <p:cNvSpPr/>
          <p:nvPr/>
        </p:nvSpPr>
        <p:spPr>
          <a:xfrm>
            <a:off x="4495800" y="5080000"/>
            <a:ext cx="3200400" cy="1041400"/>
          </a:xfrm>
          <a:prstGeom prst="roundRect">
            <a:avLst>
              <a:gd name="adj" fmla="val 8000"/>
            </a:avLst>
          </a:prstGeom>
          <a:solidFill>
            <a:srgbClr val="ECE4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0" rIns="152400" bIns="0" rtlCol="0" anchor="ctr"/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成果：約</a:t>
            </a:r>
            <a:r>
              <a:rPr kumimoji="1" lang="en-US" altLang="ja-JP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30</a:t>
            </a: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回の実装を、同じ形のプロンプトで進められた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8144B54B-05FE-4CE3-8E5D-C0A8A2C8C8F7}"/>
              </a:ext>
            </a:extLst>
          </p:cNvPr>
          <p:cNvSpPr/>
          <p:nvPr/>
        </p:nvSpPr>
        <p:spPr>
          <a:xfrm>
            <a:off x="8077200" y="1346200"/>
            <a:ext cx="3505200" cy="495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C2AAA889-DA01-424D-911B-3CF530A4B87C}"/>
              </a:ext>
            </a:extLst>
          </p:cNvPr>
          <p:cNvSpPr/>
          <p:nvPr/>
        </p:nvSpPr>
        <p:spPr>
          <a:xfrm>
            <a:off x="8305800" y="1524000"/>
            <a:ext cx="508000" cy="508000"/>
          </a:xfrm>
          <a:prstGeom prst="ellipse">
            <a:avLst/>
          </a:prstGeom>
          <a:solidFill>
            <a:srgbClr val="1F9C7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kumimoji="1" lang="en-US" altLang="ja-JP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b="1">
              <a:solidFill>
                <a:srgbClr val="FFFFFF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60CD2CD-CFDD-4CB6-A5FF-7D092CB17E80}"/>
              </a:ext>
            </a:extLst>
          </p:cNvPr>
          <p:cNvSpPr txBox="1"/>
          <p:nvPr/>
        </p:nvSpPr>
        <p:spPr>
          <a:xfrm>
            <a:off x="8940800" y="1524000"/>
            <a:ext cx="2463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6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頼みごとは具体的に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BF88D13-702F-4CDB-89CB-22B21EB5324E}"/>
              </a:ext>
            </a:extLst>
          </p:cNvPr>
          <p:cNvSpPr txBox="1"/>
          <p:nvPr/>
        </p:nvSpPr>
        <p:spPr>
          <a:xfrm>
            <a:off x="8305800" y="2209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1F9C7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困ったこと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8A2C99F-2A4C-46C9-902F-5326BA727578}"/>
              </a:ext>
            </a:extLst>
          </p:cNvPr>
          <p:cNvSpPr txBox="1"/>
          <p:nvPr/>
        </p:nvSpPr>
        <p:spPr>
          <a:xfrm>
            <a:off x="8305800" y="24638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に任せたら、</a:t>
            </a:r>
            <a:r>
              <a:rPr kumimoji="1" lang="en-US" altLang="ja-JP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CSS</a:t>
            </a:r>
            <a:r>
              <a:rPr kumimoji="1" lang="ja-JP" altLang="en-US" sz="140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がくずれてしまった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0B41A0D-03EB-4F1A-B79D-AF3E67E593BB}"/>
              </a:ext>
            </a:extLst>
          </p:cNvPr>
          <p:cNvSpPr txBox="1"/>
          <p:nvPr/>
        </p:nvSpPr>
        <p:spPr>
          <a:xfrm>
            <a:off x="8305800" y="3378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300" b="1">
                <a:solidFill>
                  <a:srgbClr val="1F9C7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こうした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53FA73B-793A-4692-BBD9-B5426F62F0E2}"/>
              </a:ext>
            </a:extLst>
          </p:cNvPr>
          <p:cNvSpPr txBox="1"/>
          <p:nvPr/>
        </p:nvSpPr>
        <p:spPr>
          <a:xfrm>
            <a:off x="8305800" y="3632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「どこのサイズを、どのくらい変えたいか」を伝え、「それ以外はさわらないで」と頼んで直した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9C78553-80D2-4942-BCE3-B46BC9005203}"/>
              </a:ext>
            </a:extLst>
          </p:cNvPr>
          <p:cNvSpPr/>
          <p:nvPr/>
        </p:nvSpPr>
        <p:spPr>
          <a:xfrm>
            <a:off x="8229600" y="5080000"/>
            <a:ext cx="3200400" cy="1041400"/>
          </a:xfrm>
          <a:prstGeom prst="roundRect">
            <a:avLst>
              <a:gd name="adj" fmla="val 8000"/>
            </a:avLst>
          </a:prstGeom>
          <a:solidFill>
            <a:srgbClr val="DDF3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52400" tIns="0" rIns="152400" bIns="0" rtlCol="0" anchor="ctr"/>
          <a:lstStyle/>
          <a:p>
            <a:pPr>
              <a:spcAft>
                <a:spcPts val="400"/>
              </a:spcAft>
            </a:pPr>
            <a:r>
              <a:rPr kumimoji="1" lang="ja-JP" altLang="en-US" sz="1400" b="1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技術がわかっていないと、頼み方もわからない</a:t>
            </a:r>
          </a:p>
        </p:txBody>
      </p:sp>
    </p:spTree>
    <p:extLst>
      <p:ext uri="{BB962C8B-B14F-4D97-AF65-F5344CB8AC3E}">
        <p14:creationId xmlns:p14="http://schemas.microsoft.com/office/powerpoint/2010/main" val="1946920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1D7FE7-2CC4-4102-83FF-BA828B878785}"/>
              </a:ext>
            </a:extLst>
          </p:cNvPr>
          <p:cNvSpPr txBox="1"/>
          <p:nvPr/>
        </p:nvSpPr>
        <p:spPr>
          <a:xfrm>
            <a:off x="609600" y="381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30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チーム開発の振り返り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1664B02-BBD3-44CC-8ACF-48BE9E52B106}"/>
              </a:ext>
            </a:extLst>
          </p:cNvPr>
          <p:cNvSpPr/>
          <p:nvPr/>
        </p:nvSpPr>
        <p:spPr>
          <a:xfrm>
            <a:off x="609600" y="1219200"/>
            <a:ext cx="7112000" cy="513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49E7E11-DE3B-42D1-ACD8-FBBC0E2B2EA0}"/>
              </a:ext>
            </a:extLst>
          </p:cNvPr>
          <p:cNvSpPr txBox="1"/>
          <p:nvPr/>
        </p:nvSpPr>
        <p:spPr>
          <a:xfrm>
            <a:off x="965200" y="15240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20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学び・気づき（</a:t>
            </a:r>
            <a:r>
              <a:rPr kumimoji="1" lang="en-US" altLang="ja-JP" sz="20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2000" b="1">
                <a:solidFill>
                  <a:srgbClr val="E2368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人共通）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C15EF9-4473-41EA-8B18-4F70244444CE}"/>
              </a:ext>
            </a:extLst>
          </p:cNvPr>
          <p:cNvSpPr txBox="1"/>
          <p:nvPr/>
        </p:nvSpPr>
        <p:spPr>
          <a:xfrm>
            <a:off x="965200" y="2159000"/>
            <a:ext cx="640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457200" indent="-457200">
              <a:spcAft>
                <a:spcPts val="2800"/>
              </a:spcAft>
              <a:buFont typeface="+mj-lt"/>
              <a:buChar char="•"/>
            </a:pPr>
            <a:r>
              <a:rPr kumimoji="1" lang="ja-JP" altLang="en-US" sz="2100" b="1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技術がわかっているからこそ、</a:t>
            </a:r>
            <a:r>
              <a:rPr kumimoji="1" lang="en-US" altLang="ja-JP" sz="2100" b="1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2100" b="1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に適切に頼めて、直すこともできた</a:t>
            </a:r>
          </a:p>
          <a:p>
            <a:pPr marL="457200" indent="-457200">
              <a:spcAft>
                <a:spcPts val="2800"/>
              </a:spcAft>
              <a:buFont typeface="+mj-lt"/>
              <a:buChar char="•"/>
            </a:pPr>
            <a:r>
              <a:rPr kumimoji="1" lang="en-US" altLang="ja-JP" sz="2100" b="1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AI</a:t>
            </a:r>
            <a:r>
              <a:rPr kumimoji="1" lang="ja-JP" altLang="en-US" sz="2100" b="1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のおすすめや「できました」は、そのまま使わず、遊んで・見て・比べて人が決める</a:t>
            </a:r>
          </a:p>
          <a:p>
            <a:pPr marL="457200" indent="-457200">
              <a:spcAft>
                <a:spcPts val="2800"/>
              </a:spcAft>
              <a:buFont typeface="+mj-lt"/>
              <a:buChar char="•"/>
            </a:pPr>
            <a:r>
              <a:rPr kumimoji="1" lang="en-US" altLang="ja-JP" sz="2100" b="1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2100" b="1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人で作るより、</a:t>
            </a:r>
            <a:r>
              <a:rPr kumimoji="1" lang="en-US" altLang="ja-JP" sz="2100" b="1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2100" b="1" dirty="0">
                <a:solidFill>
                  <a:srgbClr val="2B1F4A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人の制作物が集まって、大きなものができた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032B312-9151-44AF-8DBD-DDD93D163908}"/>
              </a:ext>
            </a:extLst>
          </p:cNvPr>
          <p:cNvSpPr txBox="1"/>
          <p:nvPr/>
        </p:nvSpPr>
        <p:spPr>
          <a:xfrm>
            <a:off x="8026400" y="939800"/>
            <a:ext cx="355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200" b="1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数で見る開発（</a:t>
            </a:r>
            <a:r>
              <a:rPr kumimoji="1" lang="en-US" altLang="ja-JP" sz="1200" b="1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10/22 </a:t>
            </a:r>
            <a:r>
              <a:rPr kumimoji="1" lang="ja-JP" altLang="en-US" sz="1200" b="1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時点）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AC2813D3-F7D2-4F39-AC7A-03E14590E45D}"/>
              </a:ext>
            </a:extLst>
          </p:cNvPr>
          <p:cNvSpPr/>
          <p:nvPr/>
        </p:nvSpPr>
        <p:spPr>
          <a:xfrm>
            <a:off x="8026400" y="1219200"/>
            <a:ext cx="3556000" cy="11684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74F41F8-02F2-499E-83A7-B81AF5463A22}"/>
              </a:ext>
            </a:extLst>
          </p:cNvPr>
          <p:cNvSpPr txBox="1"/>
          <p:nvPr/>
        </p:nvSpPr>
        <p:spPr>
          <a:xfrm>
            <a:off x="8280400" y="1473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4000" b="1">
                <a:solidFill>
                  <a:srgbClr val="F7B6D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131</a:t>
            </a:r>
            <a:endParaRPr kumimoji="1" lang="ja-JP" altLang="en-US" sz="4000" b="1">
              <a:solidFill>
                <a:srgbClr val="F7B6D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28CB894-C0A4-4695-93DC-D96BE76646A8}"/>
              </a:ext>
            </a:extLst>
          </p:cNvPr>
          <p:cNvSpPr txBox="1"/>
          <p:nvPr/>
        </p:nvSpPr>
        <p:spPr>
          <a:xfrm>
            <a:off x="9804400" y="16764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コミット（班全体）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75DC618-3934-40FA-832E-F6A393DA0A64}"/>
              </a:ext>
            </a:extLst>
          </p:cNvPr>
          <p:cNvSpPr/>
          <p:nvPr/>
        </p:nvSpPr>
        <p:spPr>
          <a:xfrm>
            <a:off x="8026400" y="2540000"/>
            <a:ext cx="3556000" cy="11684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AE061E-93F4-4E58-9DC6-B18CE62AC2DE}"/>
              </a:ext>
            </a:extLst>
          </p:cNvPr>
          <p:cNvSpPr txBox="1"/>
          <p:nvPr/>
        </p:nvSpPr>
        <p:spPr>
          <a:xfrm>
            <a:off x="8280400" y="27940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4000" b="1">
                <a:solidFill>
                  <a:srgbClr val="B9A6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50</a:t>
            </a:r>
            <a:endParaRPr kumimoji="1" lang="ja-JP" altLang="en-US" sz="4000" b="1">
              <a:solidFill>
                <a:srgbClr val="B9A6F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FCF939-4CED-40F6-AEFA-B87C617F5F25}"/>
              </a:ext>
            </a:extLst>
          </p:cNvPr>
          <p:cNvSpPr txBox="1"/>
          <p:nvPr/>
        </p:nvSpPr>
        <p:spPr>
          <a:xfrm>
            <a:off x="9804400" y="29972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マージしたプルリク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18244CB-0F10-4F14-9303-77E20E687E54}"/>
              </a:ext>
            </a:extLst>
          </p:cNvPr>
          <p:cNvSpPr/>
          <p:nvPr/>
        </p:nvSpPr>
        <p:spPr>
          <a:xfrm>
            <a:off x="8026400" y="3860800"/>
            <a:ext cx="3556000" cy="11684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B947484-3422-4C08-BD2E-0DEB771E1C65}"/>
              </a:ext>
            </a:extLst>
          </p:cNvPr>
          <p:cNvSpPr txBox="1"/>
          <p:nvPr/>
        </p:nvSpPr>
        <p:spPr>
          <a:xfrm>
            <a:off x="8280400" y="41148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4000" b="1">
                <a:solidFill>
                  <a:srgbClr val="8FE0C4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116</a:t>
            </a:r>
            <a:endParaRPr kumimoji="1" lang="ja-JP" altLang="en-US" sz="4000" b="1">
              <a:solidFill>
                <a:srgbClr val="8FE0C4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F24C406-AAE4-443E-B739-0D096E72C43A}"/>
              </a:ext>
            </a:extLst>
          </p:cNvPr>
          <p:cNvSpPr txBox="1"/>
          <p:nvPr/>
        </p:nvSpPr>
        <p:spPr>
          <a:xfrm>
            <a:off x="9804400" y="41910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テスト項目</a:t>
            </a:r>
          </a:p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（すべて </a:t>
            </a:r>
            <a:r>
              <a:rPr kumimoji="1" lang="en-US" altLang="ja-JP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Pass</a:t>
            </a: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569EE23-0427-4979-A9E1-9624A44F6F54}"/>
              </a:ext>
            </a:extLst>
          </p:cNvPr>
          <p:cNvSpPr/>
          <p:nvPr/>
        </p:nvSpPr>
        <p:spPr>
          <a:xfrm>
            <a:off x="8026400" y="5181600"/>
            <a:ext cx="3556000" cy="1168400"/>
          </a:xfrm>
          <a:prstGeom prst="roundRect">
            <a:avLst>
              <a:gd name="adj" fmla="val 8000"/>
            </a:avLst>
          </a:prstGeom>
          <a:solidFill>
            <a:srgbClr val="3A2D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46FCEC5-7445-4940-8525-2B9A0CB04CCB}"/>
              </a:ext>
            </a:extLst>
          </p:cNvPr>
          <p:cNvSpPr txBox="1"/>
          <p:nvPr/>
        </p:nvSpPr>
        <p:spPr>
          <a:xfrm>
            <a:off x="8280400" y="5435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en-US" altLang="ja-JP" sz="4000" b="1">
                <a:solidFill>
                  <a:srgbClr val="9CCBF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</a:t>
            </a:r>
            <a:endParaRPr kumimoji="1" lang="ja-JP" altLang="en-US" sz="4000" b="1">
              <a:solidFill>
                <a:srgbClr val="9CCBF5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A957C86-E69F-49A8-BE5C-964988DE5C1E}"/>
              </a:ext>
            </a:extLst>
          </p:cNvPr>
          <p:cNvSpPr txBox="1"/>
          <p:nvPr/>
        </p:nvSpPr>
        <p:spPr>
          <a:xfrm>
            <a:off x="9804400" y="5511800"/>
            <a:ext cx="1625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曲</a:t>
            </a:r>
          </a:p>
          <a:p>
            <a:pPr>
              <a:spcAft>
                <a:spcPts val="400"/>
              </a:spcAft>
            </a:pP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（はじめは</a:t>
            </a:r>
            <a:r>
              <a:rPr kumimoji="1" lang="en-US" altLang="ja-JP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kumimoji="1" lang="ja-JP" altLang="en-US" sz="1400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曲）</a:t>
            </a:r>
          </a:p>
        </p:txBody>
      </p:sp>
    </p:spTree>
    <p:extLst>
      <p:ext uri="{BB962C8B-B14F-4D97-AF65-F5344CB8AC3E}">
        <p14:creationId xmlns:p14="http://schemas.microsoft.com/office/powerpoint/2010/main" val="3052308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1053</Words>
  <Application>Microsoft Office PowerPoint</Application>
  <PresentationFormat>ワイド画面</PresentationFormat>
  <Paragraphs>113</Paragraphs>
  <Slides>5</Slides>
  <Notes>5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純子 中山</dc:creator>
  <cp:lastModifiedBy>有紀 松井</cp:lastModifiedBy>
  <cp:revision>11</cp:revision>
  <dcterms:created xsi:type="dcterms:W3CDTF">2026-10-23T07:35:14Z</dcterms:created>
  <dcterms:modified xsi:type="dcterms:W3CDTF">2026-10-23T12:34:28Z</dcterms:modified>
</cp:coreProperties>
</file>